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type="screen16x9"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p="http://schemas.openxmlformats.org/presentationml/2006/main" xmlns:r="http://schemas.openxmlformats.org/officeDocument/2006/relationships" xmlns:a="http://schemas.openxmlformats.org/drawingml/2006/main" lastView="sldThumbnailView">
  <p:normalViewPr horzBarState="maximized">
    <p:restoredLeft sz="15014" autoAdjust="0"/>
    <p:restoredTop sz="94660"/>
  </p:normalViewPr>
  <p:slideViewPr>
    <p:cSldViewPr snapToGrid="0">
      <p:cViewPr varScale="1">
        <p:scale>
          <a:sx n="72" d="100"/>
          <a:sy n="72" d="100"/>
        </p:scale>
        <p:origin x="660" y="78"/>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tableStyles" Target="tableStyles.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57" name=""/>
        <p:cNvGrpSpPr/>
        <p:nvPr/>
      </p:nvGrpSpPr>
      <p:grpSpPr>
        <a:xfrm>
          <a:off x="0" y="0"/>
          <a:ext cx="0" cy="0"/>
          <a:chOff x="0" y="0"/>
          <a:chExt cx="0" cy="0"/>
        </a:xfrm>
      </p:grpSpPr>
      <p:sp>
        <p:nvSpPr>
          <p:cNvPr id="1048665"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66"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67"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68"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69"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670"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46" name=""/>
        <p:cNvGrpSpPr/>
        <p:nvPr/>
      </p:nvGrpSpPr>
      <p:grpSpPr>
        <a:xfrm>
          <a:off x="0" y="0"/>
          <a:ext cx="0" cy="0"/>
          <a:chOff x="0" y="0"/>
          <a:chExt cx="0" cy="0"/>
        </a:xfrm>
      </p:grpSpPr>
      <p:sp>
        <p:nvSpPr>
          <p:cNvPr id="1048611"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1048612" name="Subtitle 2"/>
          <p:cNvSpPr>
            <a:spLocks noGrp="1"/>
          </p:cNvSpPr>
          <p:nvPr>
            <p:ph type="subTitle" idx="1"/>
          </p:nvPr>
        </p:nvSpPr>
        <p:spPr>
          <a:xfrm>
            <a:off x="1524000" y="3602038"/>
            <a:ext cx="9144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endParaRPr lang="en-PH"/>
          </a:p>
        </p:txBody>
      </p:sp>
      <p:sp>
        <p:nvSpPr>
          <p:cNvPr id="1048613" name="Date Placeholder 3"/>
          <p:cNvSpPr>
            <a:spLocks noGrp="1"/>
          </p:cNvSpPr>
          <p:nvPr>
            <p:ph type="dt" sz="half" idx="10"/>
          </p:nvPr>
        </p:nvSpPr>
        <p:spPr/>
        <p:txBody>
          <a:bodyPr/>
          <a:p>
            <a:fld id="{B4E6B044-4B56-4C69-B10C-D2DD921FAF86}" type="datetimeFigureOut">
              <a:rPr lang="en-PH" smtClean="0"/>
              <a:t>04/06/2026</a:t>
            </a:fld>
            <a:endParaRPr lang="en-PH"/>
          </a:p>
        </p:txBody>
      </p:sp>
      <p:sp>
        <p:nvSpPr>
          <p:cNvPr id="1048614" name="Footer Placeholder 4"/>
          <p:cNvSpPr>
            <a:spLocks noGrp="1"/>
          </p:cNvSpPr>
          <p:nvPr>
            <p:ph type="ftr" sz="quarter" idx="11"/>
          </p:nvPr>
        </p:nvSpPr>
        <p:spPr/>
        <p:txBody>
          <a:bodyPr/>
          <a:p>
            <a:endParaRPr lang="en-PH"/>
          </a:p>
        </p:txBody>
      </p:sp>
      <p:sp>
        <p:nvSpPr>
          <p:cNvPr id="1048615" name="Slide Number Placeholder 5"/>
          <p:cNvSpPr>
            <a:spLocks noGrp="1"/>
          </p:cNvSpPr>
          <p:nvPr>
            <p:ph type="sldNum" sz="quarter" idx="12"/>
          </p:nvPr>
        </p:nvSpPr>
        <p:spPr/>
        <p:txBody>
          <a:bodyPr/>
          <a:p>
            <a:fld id="{4C1567AE-4AEE-4A92-9BBF-2BCCA045331D}" type="slidenum">
              <a:rPr lang="en-PH" smtClean="0"/>
              <a:t>‹#›</a:t>
            </a:fld>
            <a:endParaRPr lang="en-PH"/>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24" name=""/>
        <p:cNvGrpSpPr/>
        <p:nvPr/>
      </p:nvGrpSpPr>
      <p:grpSpPr>
        <a:xfrm>
          <a:off x="0" y="0"/>
          <a:ext cx="0" cy="0"/>
          <a:chOff x="0" y="0"/>
          <a:chExt cx="0" cy="0"/>
        </a:xfrm>
      </p:grpSpPr>
      <p:sp>
        <p:nvSpPr>
          <p:cNvPr id="1048581" name="Title 1"/>
          <p:cNvSpPr>
            <a:spLocks noGrp="1"/>
          </p:cNvSpPr>
          <p:nvPr>
            <p:ph type="title"/>
          </p:nvPr>
        </p:nvSpPr>
        <p:spPr/>
        <p:txBody>
          <a:bodyPr/>
          <a:p>
            <a:r>
              <a:rPr lang="en-US"/>
              <a:t>Click to edit Master title style</a:t>
            </a:r>
            <a:endParaRPr lang="en-PH"/>
          </a:p>
        </p:txBody>
      </p:sp>
      <p:sp>
        <p:nvSpPr>
          <p:cNvPr id="1048582" name="Content Placeholder 2"/>
          <p:cNvSpPr>
            <a:spLocks noGrp="1"/>
          </p:cNvSpPr>
          <p:nvPr>
            <p:ph idx="1"/>
          </p:nvPr>
        </p:nvSpPr>
        <p:spPr/>
        <p:txBody>
          <a:bodyPr/>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1048583" name="Date Placeholder 3"/>
          <p:cNvSpPr>
            <a:spLocks noGrp="1"/>
          </p:cNvSpPr>
          <p:nvPr>
            <p:ph type="dt" sz="half" idx="10"/>
          </p:nvPr>
        </p:nvSpPr>
        <p:spPr/>
        <p:txBody>
          <a:bodyPr/>
          <a:p>
            <a:fld id="{B4E6B044-4B56-4C69-B10C-D2DD921FAF86}" type="datetimeFigureOut">
              <a:rPr lang="en-PH" smtClean="0"/>
              <a:t>04/06/2026</a:t>
            </a:fld>
            <a:endParaRPr lang="en-PH"/>
          </a:p>
        </p:txBody>
      </p:sp>
      <p:sp>
        <p:nvSpPr>
          <p:cNvPr id="1048584" name="Footer Placeholder 4"/>
          <p:cNvSpPr>
            <a:spLocks noGrp="1"/>
          </p:cNvSpPr>
          <p:nvPr>
            <p:ph type="ftr" sz="quarter" idx="11"/>
          </p:nvPr>
        </p:nvSpPr>
        <p:spPr/>
        <p:txBody>
          <a:bodyPr/>
          <a:p>
            <a:endParaRPr lang="en-PH"/>
          </a:p>
        </p:txBody>
      </p:sp>
      <p:sp>
        <p:nvSpPr>
          <p:cNvPr id="1048585" name="Slide Number Placeholder 5"/>
          <p:cNvSpPr>
            <a:spLocks noGrp="1"/>
          </p:cNvSpPr>
          <p:nvPr>
            <p:ph type="sldNum" sz="quarter" idx="12"/>
          </p:nvPr>
        </p:nvSpPr>
        <p:spPr/>
        <p:txBody>
          <a:bodyPr/>
          <a:p>
            <a:fld id="{4C1567AE-4AEE-4A92-9BBF-2BCCA045331D}" type="slidenum">
              <a:rPr lang="en-PH" smtClean="0"/>
              <a:t>‹#›</a:t>
            </a:fld>
            <a:endParaRPr lang="en-PH"/>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52" name=""/>
        <p:cNvGrpSpPr/>
        <p:nvPr/>
      </p:nvGrpSpPr>
      <p:grpSpPr>
        <a:xfrm>
          <a:off x="0" y="0"/>
          <a:ext cx="0" cy="0"/>
          <a:chOff x="0" y="0"/>
          <a:chExt cx="0" cy="0"/>
        </a:xfrm>
      </p:grpSpPr>
      <p:sp>
        <p:nvSpPr>
          <p:cNvPr id="1048637"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1048638" name="Text Placeholder 2"/>
          <p:cNvSpPr>
            <a:spLocks noGrp="1"/>
          </p:cNvSpPr>
          <p:nvPr>
            <p:ph type="body" idx="1"/>
          </p:nvPr>
        </p:nvSpPr>
        <p:spPr>
          <a:xfrm>
            <a:off x="831850" y="4589463"/>
            <a:ext cx="10515600" cy="1500187"/>
          </a:xfrm>
        </p:spPr>
        <p:txBody>
          <a:bodyPr/>
          <a:lstStyle>
            <a:lvl1pPr indent="0" marL="0">
              <a:buNone/>
              <a:defRPr sz="2400">
                <a:solidFill>
                  <a:schemeClr val="tx1">
                    <a:tint val="75000"/>
                  </a:schemeClr>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lang="en-US"/>
              <a:t>Edit Master text styles</a:t>
            </a:r>
          </a:p>
        </p:txBody>
      </p:sp>
      <p:sp>
        <p:nvSpPr>
          <p:cNvPr id="1048639" name="Date Placeholder 3"/>
          <p:cNvSpPr>
            <a:spLocks noGrp="1"/>
          </p:cNvSpPr>
          <p:nvPr>
            <p:ph type="dt" sz="half" idx="10"/>
          </p:nvPr>
        </p:nvSpPr>
        <p:spPr/>
        <p:txBody>
          <a:bodyPr/>
          <a:p>
            <a:fld id="{B4E6B044-4B56-4C69-B10C-D2DD921FAF86}" type="datetimeFigureOut">
              <a:rPr lang="en-PH" smtClean="0"/>
              <a:t>04/06/2026</a:t>
            </a:fld>
            <a:endParaRPr lang="en-PH"/>
          </a:p>
        </p:txBody>
      </p:sp>
      <p:sp>
        <p:nvSpPr>
          <p:cNvPr id="1048640" name="Footer Placeholder 4"/>
          <p:cNvSpPr>
            <a:spLocks noGrp="1"/>
          </p:cNvSpPr>
          <p:nvPr>
            <p:ph type="ftr" sz="quarter" idx="11"/>
          </p:nvPr>
        </p:nvSpPr>
        <p:spPr/>
        <p:txBody>
          <a:bodyPr/>
          <a:p>
            <a:endParaRPr lang="en-PH"/>
          </a:p>
        </p:txBody>
      </p:sp>
      <p:sp>
        <p:nvSpPr>
          <p:cNvPr id="1048641" name="Slide Number Placeholder 5"/>
          <p:cNvSpPr>
            <a:spLocks noGrp="1"/>
          </p:cNvSpPr>
          <p:nvPr>
            <p:ph type="sldNum" sz="quarter" idx="12"/>
          </p:nvPr>
        </p:nvSpPr>
        <p:spPr/>
        <p:txBody>
          <a:bodyPr/>
          <a:p>
            <a:fld id="{4C1567AE-4AEE-4A92-9BBF-2BCCA045331D}" type="slidenum">
              <a:rPr lang="en-PH" smtClean="0"/>
              <a:t>‹#›</a:t>
            </a:fld>
            <a:endParaRPr lang="en-PH"/>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53" name=""/>
        <p:cNvGrpSpPr/>
        <p:nvPr/>
      </p:nvGrpSpPr>
      <p:grpSpPr>
        <a:xfrm>
          <a:off x="0" y="0"/>
          <a:ext cx="0" cy="0"/>
          <a:chOff x="0" y="0"/>
          <a:chExt cx="0" cy="0"/>
        </a:xfrm>
      </p:grpSpPr>
      <p:sp>
        <p:nvSpPr>
          <p:cNvPr id="1048642" name="Title 1"/>
          <p:cNvSpPr>
            <a:spLocks noGrp="1"/>
          </p:cNvSpPr>
          <p:nvPr>
            <p:ph type="title"/>
          </p:nvPr>
        </p:nvSpPr>
        <p:spPr/>
        <p:txBody>
          <a:bodyPr/>
          <a:p>
            <a:r>
              <a:rPr lang="en-US"/>
              <a:t>Click to edit Master title style</a:t>
            </a:r>
            <a:endParaRPr lang="en-PH"/>
          </a:p>
        </p:txBody>
      </p:sp>
      <p:sp>
        <p:nvSpPr>
          <p:cNvPr id="1048643" name="Content Placeholder 2"/>
          <p:cNvSpPr>
            <a:spLocks noGrp="1"/>
          </p:cNvSpPr>
          <p:nvPr>
            <p:ph sz="half" idx="1"/>
          </p:nvPr>
        </p:nvSpPr>
        <p:spPr>
          <a:xfrm>
            <a:off x="838200" y="1825625"/>
            <a:ext cx="5181600" cy="4351338"/>
          </a:xfrm>
        </p:spPr>
        <p:txBody>
          <a:bodyPr/>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1048644" name="Content Placeholder 3"/>
          <p:cNvSpPr>
            <a:spLocks noGrp="1"/>
          </p:cNvSpPr>
          <p:nvPr>
            <p:ph sz="half" idx="2"/>
          </p:nvPr>
        </p:nvSpPr>
        <p:spPr>
          <a:xfrm>
            <a:off x="6172200" y="1825625"/>
            <a:ext cx="5181600" cy="4351338"/>
          </a:xfrm>
        </p:spPr>
        <p:txBody>
          <a:bodyPr/>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1048645" name="Date Placeholder 4"/>
          <p:cNvSpPr>
            <a:spLocks noGrp="1"/>
          </p:cNvSpPr>
          <p:nvPr>
            <p:ph type="dt" sz="half" idx="10"/>
          </p:nvPr>
        </p:nvSpPr>
        <p:spPr/>
        <p:txBody>
          <a:bodyPr/>
          <a:p>
            <a:fld id="{B4E6B044-4B56-4C69-B10C-D2DD921FAF86}" type="datetimeFigureOut">
              <a:rPr lang="en-PH" smtClean="0"/>
              <a:t>04/06/2026</a:t>
            </a:fld>
            <a:endParaRPr lang="en-PH"/>
          </a:p>
        </p:txBody>
      </p:sp>
      <p:sp>
        <p:nvSpPr>
          <p:cNvPr id="1048646" name="Footer Placeholder 5"/>
          <p:cNvSpPr>
            <a:spLocks noGrp="1"/>
          </p:cNvSpPr>
          <p:nvPr>
            <p:ph type="ftr" sz="quarter" idx="11"/>
          </p:nvPr>
        </p:nvSpPr>
        <p:spPr/>
        <p:txBody>
          <a:bodyPr/>
          <a:p>
            <a:endParaRPr lang="en-PH"/>
          </a:p>
        </p:txBody>
      </p:sp>
      <p:sp>
        <p:nvSpPr>
          <p:cNvPr id="1048647" name="Slide Number Placeholder 6"/>
          <p:cNvSpPr>
            <a:spLocks noGrp="1"/>
          </p:cNvSpPr>
          <p:nvPr>
            <p:ph type="sldNum" sz="quarter" idx="12"/>
          </p:nvPr>
        </p:nvSpPr>
        <p:spPr/>
        <p:txBody>
          <a:bodyPr/>
          <a:p>
            <a:fld id="{4C1567AE-4AEE-4A92-9BBF-2BCCA045331D}" type="slidenum">
              <a:rPr lang="en-PH" smtClean="0"/>
              <a:t>‹#›</a:t>
            </a:fld>
            <a:endParaRPr lang="en-PH"/>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54" name=""/>
        <p:cNvGrpSpPr/>
        <p:nvPr/>
      </p:nvGrpSpPr>
      <p:grpSpPr>
        <a:xfrm>
          <a:off x="0" y="0"/>
          <a:ext cx="0" cy="0"/>
          <a:chOff x="0" y="0"/>
          <a:chExt cx="0" cy="0"/>
        </a:xfrm>
      </p:grpSpPr>
      <p:sp>
        <p:nvSpPr>
          <p:cNvPr id="1048648" name="Title 1"/>
          <p:cNvSpPr>
            <a:spLocks noGrp="1"/>
          </p:cNvSpPr>
          <p:nvPr>
            <p:ph type="title"/>
          </p:nvPr>
        </p:nvSpPr>
        <p:spPr>
          <a:xfrm>
            <a:off x="839788" y="365125"/>
            <a:ext cx="10515600" cy="1325563"/>
          </a:xfrm>
        </p:spPr>
        <p:txBody>
          <a:bodyPr/>
          <a:p>
            <a:r>
              <a:rPr lang="en-US"/>
              <a:t>Click to edit Master title style</a:t>
            </a:r>
            <a:endParaRPr lang="en-PH"/>
          </a:p>
        </p:txBody>
      </p:sp>
      <p:sp>
        <p:nvSpPr>
          <p:cNvPr id="1048649" name="Text Placeholder 2"/>
          <p:cNvSpPr>
            <a:spLocks noGrp="1"/>
          </p:cNvSpPr>
          <p:nvPr>
            <p:ph type="body" idx="1"/>
          </p:nvPr>
        </p:nvSpPr>
        <p:spPr>
          <a:xfrm>
            <a:off x="839788" y="1681163"/>
            <a:ext cx="515778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Edit Master text styles</a:t>
            </a:r>
          </a:p>
        </p:txBody>
      </p:sp>
      <p:sp>
        <p:nvSpPr>
          <p:cNvPr id="1048650" name="Content Placeholder 3"/>
          <p:cNvSpPr>
            <a:spLocks noGrp="1"/>
          </p:cNvSpPr>
          <p:nvPr>
            <p:ph sz="half" idx="2"/>
          </p:nvPr>
        </p:nvSpPr>
        <p:spPr>
          <a:xfrm>
            <a:off x="839788" y="2505075"/>
            <a:ext cx="5157787" cy="3684588"/>
          </a:xfrm>
        </p:spPr>
        <p:txBody>
          <a:bodyPr/>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1048651" name="Text Placeholder 4"/>
          <p:cNvSpPr>
            <a:spLocks noGrp="1"/>
          </p:cNvSpPr>
          <p:nvPr>
            <p:ph type="body" sz="quarter" idx="3"/>
          </p:nvPr>
        </p:nvSpPr>
        <p:spPr>
          <a:xfrm>
            <a:off x="6172200" y="1681163"/>
            <a:ext cx="51831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Edit Master text styles</a:t>
            </a:r>
          </a:p>
        </p:txBody>
      </p:sp>
      <p:sp>
        <p:nvSpPr>
          <p:cNvPr id="1048652" name="Content Placeholder 5"/>
          <p:cNvSpPr>
            <a:spLocks noGrp="1"/>
          </p:cNvSpPr>
          <p:nvPr>
            <p:ph sz="quarter" idx="4"/>
          </p:nvPr>
        </p:nvSpPr>
        <p:spPr>
          <a:xfrm>
            <a:off x="6172200" y="2505075"/>
            <a:ext cx="5183188" cy="3684588"/>
          </a:xfrm>
        </p:spPr>
        <p:txBody>
          <a:bodyPr/>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1048653" name="Date Placeholder 6"/>
          <p:cNvSpPr>
            <a:spLocks noGrp="1"/>
          </p:cNvSpPr>
          <p:nvPr>
            <p:ph type="dt" sz="half" idx="10"/>
          </p:nvPr>
        </p:nvSpPr>
        <p:spPr/>
        <p:txBody>
          <a:bodyPr/>
          <a:p>
            <a:fld id="{B4E6B044-4B56-4C69-B10C-D2DD921FAF86}" type="datetimeFigureOut">
              <a:rPr lang="en-PH" smtClean="0"/>
              <a:t>04/06/2026</a:t>
            </a:fld>
            <a:endParaRPr lang="en-PH"/>
          </a:p>
        </p:txBody>
      </p:sp>
      <p:sp>
        <p:nvSpPr>
          <p:cNvPr id="1048654" name="Footer Placeholder 7"/>
          <p:cNvSpPr>
            <a:spLocks noGrp="1"/>
          </p:cNvSpPr>
          <p:nvPr>
            <p:ph type="ftr" sz="quarter" idx="11"/>
          </p:nvPr>
        </p:nvSpPr>
        <p:spPr/>
        <p:txBody>
          <a:bodyPr/>
          <a:p>
            <a:endParaRPr lang="en-PH"/>
          </a:p>
        </p:txBody>
      </p:sp>
      <p:sp>
        <p:nvSpPr>
          <p:cNvPr id="1048655" name="Slide Number Placeholder 8"/>
          <p:cNvSpPr>
            <a:spLocks noGrp="1"/>
          </p:cNvSpPr>
          <p:nvPr>
            <p:ph type="sldNum" sz="quarter" idx="12"/>
          </p:nvPr>
        </p:nvSpPr>
        <p:spPr/>
        <p:txBody>
          <a:bodyPr/>
          <a:p>
            <a:fld id="{4C1567AE-4AEE-4A92-9BBF-2BCCA045331D}" type="slidenum">
              <a:rPr lang="en-PH" smtClean="0"/>
              <a:t>‹#›</a:t>
            </a:fld>
            <a:endParaRPr lang="en-PH"/>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48" name=""/>
        <p:cNvGrpSpPr/>
        <p:nvPr/>
      </p:nvGrpSpPr>
      <p:grpSpPr>
        <a:xfrm>
          <a:off x="0" y="0"/>
          <a:ext cx="0" cy="0"/>
          <a:chOff x="0" y="0"/>
          <a:chExt cx="0" cy="0"/>
        </a:xfrm>
      </p:grpSpPr>
      <p:sp>
        <p:nvSpPr>
          <p:cNvPr id="1048617" name="Title 1"/>
          <p:cNvSpPr>
            <a:spLocks noGrp="1"/>
          </p:cNvSpPr>
          <p:nvPr>
            <p:ph type="title"/>
          </p:nvPr>
        </p:nvSpPr>
        <p:spPr/>
        <p:txBody>
          <a:bodyPr/>
          <a:p>
            <a:r>
              <a:rPr lang="en-US"/>
              <a:t>Click to edit Master title style</a:t>
            </a:r>
            <a:endParaRPr lang="en-PH"/>
          </a:p>
        </p:txBody>
      </p:sp>
      <p:sp>
        <p:nvSpPr>
          <p:cNvPr id="1048618" name="Date Placeholder 2"/>
          <p:cNvSpPr>
            <a:spLocks noGrp="1"/>
          </p:cNvSpPr>
          <p:nvPr>
            <p:ph type="dt" sz="half" idx="10"/>
          </p:nvPr>
        </p:nvSpPr>
        <p:spPr/>
        <p:txBody>
          <a:bodyPr/>
          <a:p>
            <a:fld id="{B4E6B044-4B56-4C69-B10C-D2DD921FAF86}" type="datetimeFigureOut">
              <a:rPr lang="en-PH" smtClean="0"/>
              <a:t>04/06/2026</a:t>
            </a:fld>
            <a:endParaRPr lang="en-PH"/>
          </a:p>
        </p:txBody>
      </p:sp>
      <p:sp>
        <p:nvSpPr>
          <p:cNvPr id="1048619" name="Footer Placeholder 3"/>
          <p:cNvSpPr>
            <a:spLocks noGrp="1"/>
          </p:cNvSpPr>
          <p:nvPr>
            <p:ph type="ftr" sz="quarter" idx="11"/>
          </p:nvPr>
        </p:nvSpPr>
        <p:spPr/>
        <p:txBody>
          <a:bodyPr/>
          <a:p>
            <a:endParaRPr lang="en-PH"/>
          </a:p>
        </p:txBody>
      </p:sp>
      <p:sp>
        <p:nvSpPr>
          <p:cNvPr id="1048620" name="Slide Number Placeholder 4"/>
          <p:cNvSpPr>
            <a:spLocks noGrp="1"/>
          </p:cNvSpPr>
          <p:nvPr>
            <p:ph type="sldNum" sz="quarter" idx="12"/>
          </p:nvPr>
        </p:nvSpPr>
        <p:spPr/>
        <p:txBody>
          <a:bodyPr/>
          <a:p>
            <a:fld id="{4C1567AE-4AEE-4A92-9BBF-2BCCA045331D}" type="slidenum">
              <a:rPr lang="en-PH" smtClean="0"/>
              <a:t>‹#›</a:t>
            </a:fld>
            <a:endParaRPr lang="en-PH"/>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55" name=""/>
        <p:cNvGrpSpPr/>
        <p:nvPr/>
      </p:nvGrpSpPr>
      <p:grpSpPr>
        <a:xfrm>
          <a:off x="0" y="0"/>
          <a:ext cx="0" cy="0"/>
          <a:chOff x="0" y="0"/>
          <a:chExt cx="0" cy="0"/>
        </a:xfrm>
      </p:grpSpPr>
      <p:sp>
        <p:nvSpPr>
          <p:cNvPr id="1048656" name="Date Placeholder 1"/>
          <p:cNvSpPr>
            <a:spLocks noGrp="1"/>
          </p:cNvSpPr>
          <p:nvPr>
            <p:ph type="dt" sz="half" idx="10"/>
          </p:nvPr>
        </p:nvSpPr>
        <p:spPr/>
        <p:txBody>
          <a:bodyPr/>
          <a:p>
            <a:fld id="{B4E6B044-4B56-4C69-B10C-D2DD921FAF86}" type="datetimeFigureOut">
              <a:rPr lang="en-PH" smtClean="0"/>
              <a:t>04/06/2026</a:t>
            </a:fld>
            <a:endParaRPr lang="en-PH"/>
          </a:p>
        </p:txBody>
      </p:sp>
      <p:sp>
        <p:nvSpPr>
          <p:cNvPr id="1048657" name="Footer Placeholder 2"/>
          <p:cNvSpPr>
            <a:spLocks noGrp="1"/>
          </p:cNvSpPr>
          <p:nvPr>
            <p:ph type="ftr" sz="quarter" idx="11"/>
          </p:nvPr>
        </p:nvSpPr>
        <p:spPr/>
        <p:txBody>
          <a:bodyPr/>
          <a:p>
            <a:endParaRPr lang="en-PH"/>
          </a:p>
        </p:txBody>
      </p:sp>
      <p:sp>
        <p:nvSpPr>
          <p:cNvPr id="1048658" name="Slide Number Placeholder 3"/>
          <p:cNvSpPr>
            <a:spLocks noGrp="1"/>
          </p:cNvSpPr>
          <p:nvPr>
            <p:ph type="sldNum" sz="quarter" idx="12"/>
          </p:nvPr>
        </p:nvSpPr>
        <p:spPr/>
        <p:txBody>
          <a:bodyPr/>
          <a:p>
            <a:fld id="{4C1567AE-4AEE-4A92-9BBF-2BCCA045331D}" type="slidenum">
              <a:rPr lang="en-PH" smtClean="0"/>
              <a:t>‹#›</a:t>
            </a:fld>
            <a:endParaRPr lang="en-PH"/>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56" name=""/>
        <p:cNvGrpSpPr/>
        <p:nvPr/>
      </p:nvGrpSpPr>
      <p:grpSpPr>
        <a:xfrm>
          <a:off x="0" y="0"/>
          <a:ext cx="0" cy="0"/>
          <a:chOff x="0" y="0"/>
          <a:chExt cx="0" cy="0"/>
        </a:xfrm>
      </p:grpSpPr>
      <p:sp>
        <p:nvSpPr>
          <p:cNvPr id="1048659"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1048660"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1048661"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Edit Master text styles</a:t>
            </a:r>
          </a:p>
        </p:txBody>
      </p:sp>
      <p:sp>
        <p:nvSpPr>
          <p:cNvPr id="1048662" name="Date Placeholder 4"/>
          <p:cNvSpPr>
            <a:spLocks noGrp="1"/>
          </p:cNvSpPr>
          <p:nvPr>
            <p:ph type="dt" sz="half" idx="10"/>
          </p:nvPr>
        </p:nvSpPr>
        <p:spPr/>
        <p:txBody>
          <a:bodyPr/>
          <a:p>
            <a:fld id="{B4E6B044-4B56-4C69-B10C-D2DD921FAF86}" type="datetimeFigureOut">
              <a:rPr lang="en-PH" smtClean="0"/>
              <a:t>04/06/2026</a:t>
            </a:fld>
            <a:endParaRPr lang="en-PH"/>
          </a:p>
        </p:txBody>
      </p:sp>
      <p:sp>
        <p:nvSpPr>
          <p:cNvPr id="1048663" name="Footer Placeholder 5"/>
          <p:cNvSpPr>
            <a:spLocks noGrp="1"/>
          </p:cNvSpPr>
          <p:nvPr>
            <p:ph type="ftr" sz="quarter" idx="11"/>
          </p:nvPr>
        </p:nvSpPr>
        <p:spPr/>
        <p:txBody>
          <a:bodyPr/>
          <a:p>
            <a:endParaRPr lang="en-PH"/>
          </a:p>
        </p:txBody>
      </p:sp>
      <p:sp>
        <p:nvSpPr>
          <p:cNvPr id="1048664" name="Slide Number Placeholder 6"/>
          <p:cNvSpPr>
            <a:spLocks noGrp="1"/>
          </p:cNvSpPr>
          <p:nvPr>
            <p:ph type="sldNum" sz="quarter" idx="12"/>
          </p:nvPr>
        </p:nvSpPr>
        <p:spPr/>
        <p:txBody>
          <a:bodyPr/>
          <a:p>
            <a:fld id="{4C1567AE-4AEE-4A92-9BBF-2BCCA045331D}" type="slidenum">
              <a:rPr lang="en-PH" smtClean="0"/>
              <a:t>‹#›</a:t>
            </a:fld>
            <a:endParaRPr lang="en-PH"/>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50" name=""/>
        <p:cNvGrpSpPr/>
        <p:nvPr/>
      </p:nvGrpSpPr>
      <p:grpSpPr>
        <a:xfrm>
          <a:off x="0" y="0"/>
          <a:ext cx="0" cy="0"/>
          <a:chOff x="0" y="0"/>
          <a:chExt cx="0" cy="0"/>
        </a:xfrm>
      </p:grpSpPr>
      <p:sp>
        <p:nvSpPr>
          <p:cNvPr id="1048626"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1048627" name="Picture Placeholder 2"/>
          <p:cNvSpPr>
            <a:spLocks noGrp="1"/>
          </p:cNvSpPr>
          <p:nvPr>
            <p:ph type="pic" idx="1"/>
          </p:nvPr>
        </p:nvSpPr>
        <p:spPr>
          <a:xfrm>
            <a:off x="5183188" y="987425"/>
            <a:ext cx="6172200" cy="4873625"/>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PH"/>
          </a:p>
        </p:txBody>
      </p:sp>
      <p:sp>
        <p:nvSpPr>
          <p:cNvPr id="1048628"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Edit Master text styles</a:t>
            </a:r>
          </a:p>
        </p:txBody>
      </p:sp>
      <p:sp>
        <p:nvSpPr>
          <p:cNvPr id="1048629" name="Date Placeholder 4"/>
          <p:cNvSpPr>
            <a:spLocks noGrp="1"/>
          </p:cNvSpPr>
          <p:nvPr>
            <p:ph type="dt" sz="half" idx="10"/>
          </p:nvPr>
        </p:nvSpPr>
        <p:spPr/>
        <p:txBody>
          <a:bodyPr/>
          <a:p>
            <a:fld id="{B4E6B044-4B56-4C69-B10C-D2DD921FAF86}" type="datetimeFigureOut">
              <a:rPr lang="en-PH" smtClean="0"/>
              <a:t>04/06/2026</a:t>
            </a:fld>
            <a:endParaRPr lang="en-PH"/>
          </a:p>
        </p:txBody>
      </p:sp>
      <p:sp>
        <p:nvSpPr>
          <p:cNvPr id="1048630" name="Footer Placeholder 5"/>
          <p:cNvSpPr>
            <a:spLocks noGrp="1"/>
          </p:cNvSpPr>
          <p:nvPr>
            <p:ph type="ftr" sz="quarter" idx="11"/>
          </p:nvPr>
        </p:nvSpPr>
        <p:spPr/>
        <p:txBody>
          <a:bodyPr/>
          <a:p>
            <a:endParaRPr lang="en-PH"/>
          </a:p>
        </p:txBody>
      </p:sp>
      <p:sp>
        <p:nvSpPr>
          <p:cNvPr id="1048631" name="Slide Number Placeholder 6"/>
          <p:cNvSpPr>
            <a:spLocks noGrp="1"/>
          </p:cNvSpPr>
          <p:nvPr>
            <p:ph type="sldNum" sz="quarter" idx="12"/>
          </p:nvPr>
        </p:nvSpPr>
        <p:spPr/>
        <p:txBody>
          <a:bodyPr/>
          <a:p>
            <a:fld id="{4C1567AE-4AEE-4A92-9BBF-2BCCA045331D}" type="slidenum">
              <a:rPr lang="en-PH" smtClean="0"/>
              <a:t>‹#›</a:t>
            </a:fld>
            <a:endParaRPr lang="en-PH"/>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51" name=""/>
        <p:cNvGrpSpPr/>
        <p:nvPr/>
      </p:nvGrpSpPr>
      <p:grpSpPr>
        <a:xfrm>
          <a:off x="0" y="0"/>
          <a:ext cx="0" cy="0"/>
          <a:chOff x="0" y="0"/>
          <a:chExt cx="0" cy="0"/>
        </a:xfrm>
      </p:grpSpPr>
      <p:sp>
        <p:nvSpPr>
          <p:cNvPr id="1048632" name="Title 1"/>
          <p:cNvSpPr>
            <a:spLocks noGrp="1"/>
          </p:cNvSpPr>
          <p:nvPr>
            <p:ph type="title"/>
          </p:nvPr>
        </p:nvSpPr>
        <p:spPr/>
        <p:txBody>
          <a:bodyPr/>
          <a:p>
            <a:r>
              <a:rPr lang="en-US"/>
              <a:t>Click to edit Master title style</a:t>
            </a:r>
            <a:endParaRPr lang="en-PH"/>
          </a:p>
        </p:txBody>
      </p:sp>
      <p:sp>
        <p:nvSpPr>
          <p:cNvPr id="1048633" name="Vertical Text Placeholder 2"/>
          <p:cNvSpPr>
            <a:spLocks noGrp="1"/>
          </p:cNvSpPr>
          <p:nvPr>
            <p:ph type="body" orient="vert" idx="1"/>
          </p:nvPr>
        </p:nvSpPr>
        <p:spPr/>
        <p:txBody>
          <a:bodyPr vert="eaVert"/>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1048634" name="Date Placeholder 3"/>
          <p:cNvSpPr>
            <a:spLocks noGrp="1"/>
          </p:cNvSpPr>
          <p:nvPr>
            <p:ph type="dt" sz="half" idx="10"/>
          </p:nvPr>
        </p:nvSpPr>
        <p:spPr/>
        <p:txBody>
          <a:bodyPr/>
          <a:p>
            <a:fld id="{B4E6B044-4B56-4C69-B10C-D2DD921FAF86}" type="datetimeFigureOut">
              <a:rPr lang="en-PH" smtClean="0"/>
              <a:t>04/06/2026</a:t>
            </a:fld>
            <a:endParaRPr lang="en-PH"/>
          </a:p>
        </p:txBody>
      </p:sp>
      <p:sp>
        <p:nvSpPr>
          <p:cNvPr id="1048635" name="Footer Placeholder 4"/>
          <p:cNvSpPr>
            <a:spLocks noGrp="1"/>
          </p:cNvSpPr>
          <p:nvPr>
            <p:ph type="ftr" sz="quarter" idx="11"/>
          </p:nvPr>
        </p:nvSpPr>
        <p:spPr/>
        <p:txBody>
          <a:bodyPr/>
          <a:p>
            <a:endParaRPr lang="en-PH"/>
          </a:p>
        </p:txBody>
      </p:sp>
      <p:sp>
        <p:nvSpPr>
          <p:cNvPr id="1048636" name="Slide Number Placeholder 5"/>
          <p:cNvSpPr>
            <a:spLocks noGrp="1"/>
          </p:cNvSpPr>
          <p:nvPr>
            <p:ph type="sldNum" sz="quarter" idx="12"/>
          </p:nvPr>
        </p:nvSpPr>
        <p:spPr/>
        <p:txBody>
          <a:bodyPr/>
          <a:p>
            <a:fld id="{4C1567AE-4AEE-4A92-9BBF-2BCCA045331D}" type="slidenum">
              <a:rPr lang="en-PH" smtClean="0"/>
              <a:t>‹#›</a:t>
            </a:fld>
            <a:endParaRPr lang="en-PH"/>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49" name=""/>
        <p:cNvGrpSpPr/>
        <p:nvPr/>
      </p:nvGrpSpPr>
      <p:grpSpPr>
        <a:xfrm>
          <a:off x="0" y="0"/>
          <a:ext cx="0" cy="0"/>
          <a:chOff x="0" y="0"/>
          <a:chExt cx="0" cy="0"/>
        </a:xfrm>
      </p:grpSpPr>
      <p:sp>
        <p:nvSpPr>
          <p:cNvPr id="1048621" name="Vertical Title 1"/>
          <p:cNvSpPr>
            <a:spLocks noGrp="1"/>
          </p:cNvSpPr>
          <p:nvPr>
            <p:ph type="title" orient="vert"/>
          </p:nvPr>
        </p:nvSpPr>
        <p:spPr>
          <a:xfrm>
            <a:off x="8724900" y="365125"/>
            <a:ext cx="2628900" cy="5811838"/>
          </a:xfrm>
        </p:spPr>
        <p:txBody>
          <a:bodyPr vert="eaVert"/>
          <a:p>
            <a:r>
              <a:rPr lang="en-US"/>
              <a:t>Click to edit Master title style</a:t>
            </a:r>
            <a:endParaRPr lang="en-PH"/>
          </a:p>
        </p:txBody>
      </p:sp>
      <p:sp>
        <p:nvSpPr>
          <p:cNvPr id="1048622" name="Vertical Text Placeholder 2"/>
          <p:cNvSpPr>
            <a:spLocks noGrp="1"/>
          </p:cNvSpPr>
          <p:nvPr>
            <p:ph type="body" orient="vert" idx="1"/>
          </p:nvPr>
        </p:nvSpPr>
        <p:spPr>
          <a:xfrm>
            <a:off x="838200" y="365125"/>
            <a:ext cx="7734300" cy="5811838"/>
          </a:xfrm>
        </p:spPr>
        <p:txBody>
          <a:bodyPr vert="eaVert"/>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1048623" name="Date Placeholder 3"/>
          <p:cNvSpPr>
            <a:spLocks noGrp="1"/>
          </p:cNvSpPr>
          <p:nvPr>
            <p:ph type="dt" sz="half" idx="10"/>
          </p:nvPr>
        </p:nvSpPr>
        <p:spPr/>
        <p:txBody>
          <a:bodyPr/>
          <a:p>
            <a:fld id="{B4E6B044-4B56-4C69-B10C-D2DD921FAF86}" type="datetimeFigureOut">
              <a:rPr lang="en-PH" smtClean="0"/>
              <a:t>04/06/2026</a:t>
            </a:fld>
            <a:endParaRPr lang="en-PH"/>
          </a:p>
        </p:txBody>
      </p:sp>
      <p:sp>
        <p:nvSpPr>
          <p:cNvPr id="1048624" name="Footer Placeholder 4"/>
          <p:cNvSpPr>
            <a:spLocks noGrp="1"/>
          </p:cNvSpPr>
          <p:nvPr>
            <p:ph type="ftr" sz="quarter" idx="11"/>
          </p:nvPr>
        </p:nvSpPr>
        <p:spPr/>
        <p:txBody>
          <a:bodyPr/>
          <a:p>
            <a:endParaRPr lang="en-PH"/>
          </a:p>
        </p:txBody>
      </p:sp>
      <p:sp>
        <p:nvSpPr>
          <p:cNvPr id="1048625" name="Slide Number Placeholder 5"/>
          <p:cNvSpPr>
            <a:spLocks noGrp="1"/>
          </p:cNvSpPr>
          <p:nvPr>
            <p:ph type="sldNum" sz="quarter" idx="12"/>
          </p:nvPr>
        </p:nvSpPr>
        <p:spPr/>
        <p:txBody>
          <a:bodyPr/>
          <a:p>
            <a:fld id="{4C1567AE-4AEE-4A92-9BBF-2BCCA045331D}" type="slidenum">
              <a:rPr lang="en-PH" smtClean="0"/>
              <a:t>‹#›</a:t>
            </a:fld>
            <a:endParaRPr lang="en-PH"/>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p:spPr>
        <p:txBody>
          <a:bodyPr anchor="ctr" bIns="45720" lIns="91440" rIns="91440" rtlCol="0" tIns="45720" vert="horz">
            <a:normAutofit/>
          </a:bodyPr>
          <a:p>
            <a:r>
              <a:rPr lang="en-US"/>
              <a:t>Click to edit Master title style</a:t>
            </a:r>
            <a:endParaRPr lang="en-PH"/>
          </a:p>
        </p:txBody>
      </p:sp>
      <p:sp>
        <p:nvSpPr>
          <p:cNvPr id="1048577" name="Text Placeholder 2"/>
          <p:cNvSpPr>
            <a:spLocks noGrp="1"/>
          </p:cNvSpPr>
          <p:nvPr>
            <p:ph type="body" idx="1"/>
          </p:nvPr>
        </p:nvSpPr>
        <p:spPr>
          <a:xfrm>
            <a:off x="838200" y="1825625"/>
            <a:ext cx="10515600" cy="4351338"/>
          </a:xfrm>
          <a:prstGeom prst="rect"/>
        </p:spPr>
        <p:txBody>
          <a:bodyPr bIns="45720" lIns="91440" rIns="91440" rtlCol="0" tIns="45720" vert="horz">
            <a:normAutofit/>
          </a:bodyPr>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1048578" name="Date Placeholder 3"/>
          <p:cNvSpPr>
            <a:spLocks noGrp="1"/>
          </p:cNvSpPr>
          <p:nvPr>
            <p:ph type="dt" sz="half" idx="2"/>
          </p:nvPr>
        </p:nvSpPr>
        <p:spPr>
          <a:xfrm>
            <a:off x="838200" y="6356350"/>
            <a:ext cx="2743200" cy="365125"/>
          </a:xfrm>
          <a:prstGeom prst="rect"/>
        </p:spPr>
        <p:txBody>
          <a:bodyPr anchor="ctr" bIns="45720" lIns="91440" rIns="91440" rtlCol="0" tIns="45720" vert="horz"/>
          <a:lstStyle>
            <a:lvl1pPr algn="l">
              <a:defRPr sz="1200">
                <a:solidFill>
                  <a:schemeClr val="tx1">
                    <a:tint val="75000"/>
                  </a:schemeClr>
                </a:solidFill>
              </a:defRPr>
            </a:lvl1pPr>
          </a:lstStyle>
          <a:p>
            <a:fld id="{B4E6B044-4B56-4C69-B10C-D2DD921FAF86}" type="datetimeFigureOut">
              <a:rPr lang="en-PH" smtClean="0"/>
              <a:t>04/06/2026</a:t>
            </a:fld>
            <a:endParaRPr lang="en-PH"/>
          </a:p>
        </p:txBody>
      </p:sp>
      <p:sp>
        <p:nvSpPr>
          <p:cNvPr id="1048579" name="Footer Placeholder 4"/>
          <p:cNvSpPr>
            <a:spLocks noGrp="1"/>
          </p:cNvSpPr>
          <p:nvPr>
            <p:ph type="ftr" sz="quarter" idx="3"/>
          </p:nvPr>
        </p:nvSpPr>
        <p:spPr>
          <a:xfrm>
            <a:off x="4038600" y="6356350"/>
            <a:ext cx="41148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PH"/>
          </a:p>
        </p:txBody>
      </p:sp>
      <p:sp>
        <p:nvSpPr>
          <p:cNvPr id="1048580" name="Slide Number Placeholder 5"/>
          <p:cNvSpPr>
            <a:spLocks noGrp="1"/>
          </p:cNvSpPr>
          <p:nvPr>
            <p:ph type="sldNum" sz="quarter" idx="4"/>
          </p:nvPr>
        </p:nvSpPr>
        <p:spPr>
          <a:xfrm>
            <a:off x="8610600" y="6356350"/>
            <a:ext cx="2743200" cy="365125"/>
          </a:xfrm>
          <a:prstGeom prst="rect"/>
        </p:spPr>
        <p:txBody>
          <a:bodyPr anchor="ctr" bIns="45720" lIns="91440" rIns="91440" rtlCol="0" tIns="45720" vert="horz"/>
          <a:lstStyle>
            <a:lvl1pPr algn="r">
              <a:defRPr sz="1200">
                <a:solidFill>
                  <a:schemeClr val="tx1">
                    <a:tint val="75000"/>
                  </a:schemeClr>
                </a:solidFill>
              </a:defRPr>
            </a:lvl1pPr>
          </a:lstStyle>
          <a:p>
            <a:fld id="{4C1567AE-4AEE-4A92-9BBF-2BCCA045331D}" type="slidenum">
              <a:rPr lang="en-PH" smtClean="0"/>
              <a:t>‹#›</a:t>
            </a:fld>
            <a:endParaRPr lang="en-PH"/>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586" name="Content Placeholder 3"/>
          <p:cNvSpPr>
            <a:spLocks noGrp="1"/>
          </p:cNvSpPr>
          <p:nvPr>
            <p:ph idx="1"/>
          </p:nvPr>
        </p:nvSpPr>
        <p:spPr>
          <a:xfrm>
            <a:off x="821633" y="-106017"/>
            <a:ext cx="10548731" cy="4429402"/>
          </a:xfrm>
        </p:spPr>
        <p:txBody>
          <a:bodyPr/>
          <a:p>
            <a:pPr algn="ctr"/>
            <a:endParaRPr dirty="0" lang="en-PH"/>
          </a:p>
          <a:p>
            <a:pPr algn="ctr"/>
            <a:endParaRPr dirty="0" lang="en-PH"/>
          </a:p>
          <a:p>
            <a:pPr algn="ctr" indent="0" marL="0">
              <a:buNone/>
            </a:pPr>
            <a:r>
              <a:rPr b="1" dirty="0" sz="4800" i="0" lang="en-US">
                <a:effectLst/>
                <a:latin typeface="Times New Roman" panose="02020603050405020304" pitchFamily="18" charset="0"/>
                <a:cs typeface="Times New Roman" panose="02020603050405020304" pitchFamily="18" charset="0"/>
              </a:rPr>
              <a:t>The Effects on the Psychological Well-Being of BSSW Working Students at </a:t>
            </a:r>
            <a:r>
              <a:rPr b="1" dirty="0" sz="4800" i="0" lang="en-US" err="1">
                <a:effectLst/>
                <a:latin typeface="Times New Roman" panose="02020603050405020304" pitchFamily="18" charset="0"/>
                <a:cs typeface="Times New Roman" panose="02020603050405020304" pitchFamily="18" charset="0"/>
              </a:rPr>
              <a:t>Dalubhasaan</a:t>
            </a:r>
            <a:r>
              <a:rPr b="1" dirty="0" sz="4800" i="0" lang="en-US">
                <a:effectLst/>
                <a:latin typeface="Times New Roman" panose="02020603050405020304" pitchFamily="18" charset="0"/>
                <a:cs typeface="Times New Roman" panose="02020603050405020304" pitchFamily="18" charset="0"/>
              </a:rPr>
              <a:t> ng </a:t>
            </a:r>
            <a:r>
              <a:rPr b="1" dirty="0" sz="4800" i="0" lang="en-US" err="1">
                <a:effectLst/>
                <a:latin typeface="Times New Roman" panose="02020603050405020304" pitchFamily="18" charset="0"/>
                <a:cs typeface="Times New Roman" panose="02020603050405020304" pitchFamily="18" charset="0"/>
              </a:rPr>
              <a:t>Lungsod</a:t>
            </a:r>
            <a:r>
              <a:rPr b="1" dirty="0" sz="4800" i="0" lang="en-US">
                <a:effectLst/>
                <a:latin typeface="Times New Roman" panose="02020603050405020304" pitchFamily="18" charset="0"/>
                <a:cs typeface="Times New Roman" panose="02020603050405020304" pitchFamily="18" charset="0"/>
              </a:rPr>
              <a:t> ng </a:t>
            </a:r>
            <a:r>
              <a:rPr b="1" dirty="0" sz="4800" i="0" lang="en-US" err="1">
                <a:effectLst/>
                <a:latin typeface="Times New Roman" panose="02020603050405020304" pitchFamily="18" charset="0"/>
                <a:cs typeface="Times New Roman" panose="02020603050405020304" pitchFamily="18" charset="0"/>
              </a:rPr>
              <a:t>Lucena</a:t>
            </a:r>
            <a:r>
              <a:rPr b="1" dirty="0" sz="4800" i="0" lang="en-US">
                <a:effectLst/>
                <a:latin typeface="Times New Roman" panose="02020603050405020304" pitchFamily="18" charset="0"/>
                <a:cs typeface="Times New Roman" panose="02020603050405020304" pitchFamily="18" charset="0"/>
              </a:rPr>
              <a:t>; Coping Strategies and Challenges in Academic and Part-Time Work</a:t>
            </a:r>
            <a:endParaRPr dirty="0" sz="4800" lang="en-PH">
              <a:latin typeface="Times New Roman" panose="02020603050405020304" pitchFamily="18" charset="0"/>
              <a:cs typeface="Times New Roman" panose="02020603050405020304" pitchFamily="18" charset="0"/>
            </a:endParaRPr>
          </a:p>
        </p:txBody>
      </p:sp>
      <p:sp>
        <p:nvSpPr>
          <p:cNvPr id="1048587" name="TextBox 5"/>
          <p:cNvSpPr txBox="1"/>
          <p:nvPr/>
        </p:nvSpPr>
        <p:spPr>
          <a:xfrm>
            <a:off x="2206486" y="5115339"/>
            <a:ext cx="7779026" cy="1323340"/>
          </a:xfrm>
          <a:prstGeom prst="rect"/>
          <a:noFill/>
        </p:spPr>
        <p:txBody>
          <a:bodyPr rtlCol="0" wrap="square">
            <a:spAutoFit/>
          </a:bodyPr>
          <a:p>
            <a:pPr algn="ctr"/>
            <a:r>
              <a:rPr b="1" dirty="0" sz="3200" i="0" lang="en-PH">
                <a:effectLst/>
                <a:latin typeface="Times New Roman" panose="02020603050405020304" pitchFamily="18" charset="0"/>
                <a:cs typeface="Times New Roman" panose="02020603050405020304" pitchFamily="18" charset="0"/>
              </a:rPr>
              <a:t>MARANAN, KRISTEL GAILE</a:t>
            </a:r>
            <a:endParaRPr dirty="0" sz="3200" lang="en-PH">
              <a:effectLst/>
              <a:latin typeface="Times New Roman" panose="02020603050405020304" pitchFamily="18" charset="0"/>
              <a:cs typeface="Times New Roman" panose="02020603050405020304" pitchFamily="18" charset="0"/>
            </a:endParaRPr>
          </a:p>
          <a:p>
            <a:pPr algn="ctr"/>
            <a:r>
              <a:rPr b="1" dirty="0" sz="3200" i="0" lang="en-PH">
                <a:effectLst/>
                <a:latin typeface="Times New Roman" panose="02020603050405020304" pitchFamily="18" charset="0"/>
                <a:cs typeface="Times New Roman" panose="02020603050405020304" pitchFamily="18" charset="0"/>
              </a:rPr>
              <a:t>MUNDIN, ELIZABETH</a:t>
            </a:r>
            <a:endParaRPr dirty="0" sz="3200" lang="en-PH">
              <a:effectLst/>
              <a:latin typeface="Times New Roman" panose="02020603050405020304" pitchFamily="18" charset="0"/>
              <a:cs typeface="Times New Roman" panose="02020603050405020304" pitchFamily="18" charset="0"/>
            </a:endParaRPr>
          </a:p>
          <a:p>
            <a:endParaRPr dirty="0" lang="en-PH"/>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1048588" name="Title 1"/>
          <p:cNvSpPr>
            <a:spLocks noGrp="1"/>
          </p:cNvSpPr>
          <p:nvPr>
            <p:ph type="title"/>
          </p:nvPr>
        </p:nvSpPr>
        <p:spPr>
          <a:xfrm>
            <a:off x="679174" y="500062"/>
            <a:ext cx="10515600" cy="1325563"/>
          </a:xfrm>
        </p:spPr>
        <p:txBody>
          <a:bodyPr>
            <a:normAutofit/>
          </a:bodyPr>
          <a:p>
            <a:pPr algn="ctr"/>
            <a:r>
              <a:rPr b="1" dirty="0" lang="en-PH">
                <a:latin typeface="Times New Roman" panose="02020603050405020304" pitchFamily="18" charset="0"/>
                <a:cs typeface="Times New Roman" panose="02020603050405020304" pitchFamily="18" charset="0"/>
              </a:rPr>
              <a:t>Panel’s comments and actions taken</a:t>
            </a:r>
            <a:endParaRPr b="1" dirty="0" lang="en-PH">
              <a:latin typeface="Times New Roman" panose="02020603050405020304" pitchFamily="18" charset="0"/>
              <a:cs typeface="Times New Roman" panose="02020603050405020304" pitchFamily="18" charset="0"/>
            </a:endParaRPr>
          </a:p>
        </p:txBody>
      </p:sp>
      <p:sp>
        <p:nvSpPr>
          <p:cNvPr id="1048589" name="Content Placeholder 3"/>
          <p:cNvSpPr>
            <a:spLocks noGrp="1"/>
          </p:cNvSpPr>
          <p:nvPr>
            <p:ph idx="1"/>
          </p:nvPr>
        </p:nvSpPr>
        <p:spPr/>
        <p:txBody>
          <a:bodyPr/>
          <a:p>
            <a:pPr algn="ctr"/>
            <a:endParaRPr dirty="0" lang="en-PH"/>
          </a:p>
          <a:p>
            <a:pPr algn="ctr"/>
            <a:endParaRPr dirty="0" lang="en-PH"/>
          </a:p>
        </p:txBody>
      </p:sp>
      <p:graphicFrame>
        <p:nvGraphicFramePr>
          <p:cNvPr id="4194304" name="Table 5"/>
          <p:cNvGraphicFramePr>
            <a:graphicFrameLocks noGrp="1"/>
          </p:cNvGraphicFramePr>
          <p:nvPr/>
        </p:nvGraphicFramePr>
        <p:xfrm>
          <a:off x="997226" y="1341914"/>
          <a:ext cx="10197549" cy="5318760"/>
        </p:xfrm>
        <a:graphic>
          <a:graphicData uri="http://schemas.openxmlformats.org/drawingml/2006/table">
            <a:tbl>
              <a:tblPr firstRow="1" bandRow="1">
                <a:tableStyleId>{F5AB1C69-6EDB-4FF4-983F-18BD219EF322}</a:tableStyleId>
              </a:tblPr>
              <a:tblGrid>
                <a:gridCol w="3399183"/>
                <a:gridCol w="3399183"/>
                <a:gridCol w="3399183"/>
              </a:tblGrid>
              <a:tr h="681360">
                <a:tc>
                  <a:txBody>
                    <a:bodyPr/>
                    <a:p>
                      <a:pPr algn="ctr"/>
                      <a:r>
                        <a:rPr b="1" dirty="0" sz="2000" i="0" lang="en-PH">
                          <a:solidFill>
                            <a:schemeClr val="tx1"/>
                          </a:solidFill>
                          <a:effectLst/>
                          <a:latin typeface="Times New Roman" panose="02020603050405020304" pitchFamily="18" charset="0"/>
                          <a:cs typeface="Times New Roman" panose="02020603050405020304" pitchFamily="18" charset="0"/>
                        </a:rPr>
                        <a:t>PANEL MEMBER</a:t>
                      </a:r>
                      <a:endParaRPr dirty="0" sz="2000" lang="en-PH">
                        <a:solidFill>
                          <a:schemeClr val="tx1"/>
                        </a:solidFill>
                        <a:latin typeface="Times New Roman" panose="02020603050405020304" pitchFamily="18" charset="0"/>
                        <a:cs typeface="Times New Roman" panose="02020603050405020304" pitchFamily="18" charset="0"/>
                      </a:endParaRPr>
                    </a:p>
                  </a:txBody>
                </a:tc>
                <a:tc>
                  <a:txBody>
                    <a:bodyPr/>
                    <a:p>
                      <a:pPr algn="ctr"/>
                      <a:r>
                        <a:rPr dirty="0" sz="2000" lang="en-US">
                          <a:solidFill>
                            <a:schemeClr val="tx1"/>
                          </a:solidFill>
                          <a:latin typeface="Times New Roman" panose="02020603050405020304" pitchFamily="18" charset="0"/>
                          <a:cs typeface="Times New Roman" panose="02020603050405020304" pitchFamily="18" charset="0"/>
                        </a:rPr>
                        <a:t>COMMENTS/</a:t>
                      </a:r>
                    </a:p>
                    <a:p>
                      <a:pPr algn="ctr"/>
                      <a:r>
                        <a:rPr dirty="0" sz="2000" lang="en-US">
                          <a:solidFill>
                            <a:schemeClr val="tx1"/>
                          </a:solidFill>
                          <a:latin typeface="Times New Roman" panose="02020603050405020304" pitchFamily="18" charset="0"/>
                          <a:cs typeface="Times New Roman" panose="02020603050405020304" pitchFamily="18" charset="0"/>
                        </a:rPr>
                        <a:t>RECOMMENDATIONS </a:t>
                      </a:r>
                      <a:endParaRPr dirty="0" sz="2000" lang="en-PH">
                        <a:solidFill>
                          <a:schemeClr val="tx1"/>
                        </a:solidFill>
                        <a:latin typeface="Times New Roman" panose="02020603050405020304" pitchFamily="18" charset="0"/>
                        <a:cs typeface="Times New Roman" panose="02020603050405020304" pitchFamily="18" charset="0"/>
                      </a:endParaRPr>
                    </a:p>
                  </a:txBody>
                </a:tc>
                <a:tc>
                  <a:txBody>
                    <a:bodyPr/>
                    <a:p>
                      <a:pPr algn="ctr"/>
                      <a:r>
                        <a:rPr dirty="0" sz="2000" lang="en-US">
                          <a:solidFill>
                            <a:schemeClr val="tx1"/>
                          </a:solidFill>
                          <a:latin typeface="Times New Roman" panose="02020603050405020304" pitchFamily="18" charset="0"/>
                          <a:cs typeface="Times New Roman" panose="02020603050405020304" pitchFamily="18" charset="0"/>
                        </a:rPr>
                        <a:t>ACTION TAKEN </a:t>
                      </a:r>
                      <a:endParaRPr dirty="0" sz="2000" lang="en-PH">
                        <a:solidFill>
                          <a:schemeClr val="tx1"/>
                        </a:solidFill>
                        <a:latin typeface="Times New Roman" panose="02020603050405020304" pitchFamily="18" charset="0"/>
                        <a:cs typeface="Times New Roman" panose="02020603050405020304" pitchFamily="18" charset="0"/>
                      </a:endParaRPr>
                    </a:p>
                  </a:txBody>
                </a:tc>
              </a:tr>
              <a:tr h="1155350">
                <a:tc>
                  <a:txBody>
                    <a:bodyPr/>
                    <a:p>
                      <a:pPr algn="ctr">
                        <a:lnSpc>
                          <a:spcPct val="100000"/>
                        </a:lnSpc>
                      </a:pPr>
                      <a:endParaRPr b="1" dirty="0" i="0" lang="en-PH">
                        <a:effectLst/>
                      </a:endParaRPr>
                    </a:p>
                    <a:p>
                      <a:pPr algn="ctr">
                        <a:lnSpc>
                          <a:spcPct val="100000"/>
                        </a:lnSpc>
                      </a:pPr>
                      <a:r>
                        <a:rPr b="1" dirty="0" i="0" lang="en-PH">
                          <a:effectLst/>
                        </a:rPr>
                        <a:t>MA’AM LIZA</a:t>
                      </a:r>
                      <a:endParaRPr dirty="0" lang="en-PH">
                        <a:solidFill>
                          <a:schemeClr val="tx1"/>
                        </a:solidFill>
                        <a:latin typeface="Times New Roman" panose="02020603050405020304" pitchFamily="18" charset="0"/>
                        <a:cs typeface="Times New Roman" panose="02020603050405020304" pitchFamily="18" charset="0"/>
                      </a:endParaRPr>
                    </a:p>
                  </a:txBody>
                </a:tc>
                <a:tc>
                  <a:txBody>
                    <a:bodyPr/>
                    <a:p>
                      <a:pPr algn="ctr">
                        <a:lnSpc>
                          <a:spcPct val="100000"/>
                        </a:lnSpc>
                      </a:pPr>
                      <a:endParaRPr b="0" dirty="0" i="0" lang="en-US">
                        <a:effectLst/>
                      </a:endParaRPr>
                    </a:p>
                    <a:p>
                      <a:pPr algn="ctr">
                        <a:lnSpc>
                          <a:spcPct val="100000"/>
                        </a:lnSpc>
                      </a:pPr>
                      <a:r>
                        <a:rPr b="0" dirty="0" i="0" lang="en-US">
                          <a:effectLst/>
                        </a:rPr>
                        <a:t>Add the challenges experienced by working students.</a:t>
                      </a:r>
                      <a:endParaRPr dirty="0" lang="en-PH">
                        <a:solidFill>
                          <a:schemeClr val="tx1"/>
                        </a:solidFill>
                        <a:latin typeface="Times New Roman" panose="02020603050405020304" pitchFamily="18" charset="0"/>
                        <a:cs typeface="Times New Roman" panose="02020603050405020304" pitchFamily="18" charset="0"/>
                      </a:endParaRPr>
                    </a:p>
                  </a:txBody>
                </a:tc>
                <a:tc>
                  <a:txBody>
                    <a:bodyPr/>
                    <a:p>
                      <a:pPr algn="ctr">
                        <a:lnSpc>
                          <a:spcPct val="100000"/>
                        </a:lnSpc>
                      </a:pPr>
                      <a:r>
                        <a:rPr b="0" dirty="0" i="0" lang="en-US">
                          <a:effectLst/>
                        </a:rPr>
                        <a:t>Challenges were included in the study, can be seen in Title and Objectives of the study.</a:t>
                      </a:r>
                    </a:p>
                    <a:p>
                      <a:pPr algn="ctr">
                        <a:lnSpc>
                          <a:spcPct val="100000"/>
                        </a:lnSpc>
                      </a:pPr>
                      <a:r>
                        <a:rPr b="0" dirty="0" i="0" lang="en-US">
                          <a:effectLst/>
                        </a:rPr>
                        <a:t> Page. </a:t>
                      </a:r>
                      <a:r>
                        <a:rPr b="0" dirty="0" i="0" lang="en-US">
                          <a:effectLst/>
                        </a:rPr>
                        <a:t>3</a:t>
                      </a:r>
                      <a:endParaRPr altLang="en-US" lang="zh-CN"/>
                    </a:p>
                  </a:txBody>
                </a:tc>
              </a:tr>
              <a:tr h="888730">
                <a:tc>
                  <a:txBody>
                    <a:bodyPr/>
                    <a:p>
                      <a:pPr algn="ctr" defTabSz="914400" eaLnBrk="1" fontAlgn="auto" hangingPunct="1" indent="0" latinLnBrk="0" lvl="0" marL="0" marR="0" rtl="0">
                        <a:lnSpc>
                          <a:spcPct val="100000"/>
                        </a:lnSpc>
                        <a:spcBef>
                          <a:spcPts val="0"/>
                        </a:spcBef>
                        <a:spcAft>
                          <a:spcPts val="0"/>
                        </a:spcAft>
                        <a:buClrTx/>
                        <a:buSzTx/>
                        <a:buFontTx/>
                        <a:buNone/>
                      </a:pPr>
                      <a:endParaRPr b="1" dirty="0" i="0" lang="en-PH">
                        <a:effectLst/>
                      </a:endParaRPr>
                    </a:p>
                    <a:p>
                      <a:pPr algn="ctr" defTabSz="914400" eaLnBrk="1" fontAlgn="auto" hangingPunct="1" indent="0" latinLnBrk="0" lvl="0" marL="0" marR="0" rtl="0">
                        <a:lnSpc>
                          <a:spcPct val="100000"/>
                        </a:lnSpc>
                        <a:spcBef>
                          <a:spcPts val="0"/>
                        </a:spcBef>
                        <a:spcAft>
                          <a:spcPts val="0"/>
                        </a:spcAft>
                        <a:buClrTx/>
                        <a:buSzTx/>
                        <a:buFontTx/>
                        <a:buNone/>
                      </a:pPr>
                      <a:r>
                        <a:rPr b="1" dirty="0" i="0" lang="en-PH">
                          <a:effectLst/>
                        </a:rPr>
                        <a:t>MA’AM LIZA</a:t>
                      </a:r>
                      <a:endParaRPr dirty="0" lang="en-PH">
                        <a:solidFill>
                          <a:schemeClr val="tx1"/>
                        </a:solidFill>
                        <a:latin typeface="Times New Roman" panose="02020603050405020304" pitchFamily="18" charset="0"/>
                        <a:cs typeface="Times New Roman" panose="02020603050405020304" pitchFamily="18" charset="0"/>
                      </a:endParaRPr>
                    </a:p>
                    <a:p>
                      <a:pPr algn="ctr">
                        <a:lnSpc>
                          <a:spcPct val="100000"/>
                        </a:lnSpc>
                      </a:pPr>
                      <a:endParaRPr dirty="0" lang="en-PH">
                        <a:solidFill>
                          <a:schemeClr val="tx1"/>
                        </a:solidFill>
                        <a:latin typeface="Times New Roman" panose="02020603050405020304" pitchFamily="18" charset="0"/>
                        <a:cs typeface="Times New Roman" panose="02020603050405020304" pitchFamily="18" charset="0"/>
                      </a:endParaRPr>
                    </a:p>
                  </a:txBody>
                </a:tc>
                <a:tc>
                  <a:txBody>
                    <a:bodyPr/>
                    <a:p>
                      <a:pPr algn="ctr">
                        <a:lnSpc>
                          <a:spcPct val="100000"/>
                        </a:lnSpc>
                      </a:pPr>
                      <a:r>
                        <a:rPr b="0" dirty="0" i="0" lang="en-US">
                          <a:effectLst/>
                        </a:rPr>
                        <a:t>Include 1st year students in the participants.</a:t>
                      </a:r>
                      <a:endParaRPr dirty="0" lang="en-PH">
                        <a:solidFill>
                          <a:schemeClr val="tx1"/>
                        </a:solidFill>
                        <a:latin typeface="Times New Roman" panose="02020603050405020304" pitchFamily="18" charset="0"/>
                        <a:cs typeface="Times New Roman" panose="02020603050405020304" pitchFamily="18" charset="0"/>
                      </a:endParaRPr>
                    </a:p>
                  </a:txBody>
                </a:tc>
                <a:tc>
                  <a:txBody>
                    <a:bodyPr/>
                    <a:p>
                      <a:pPr algn="ctr">
                        <a:lnSpc>
                          <a:spcPct val="100000"/>
                        </a:lnSpc>
                      </a:pPr>
                      <a:r>
                        <a:rPr b="0" dirty="0" i="0" lang="en-US">
                          <a:effectLst/>
                        </a:rPr>
                        <a:t>Participants were revised to 1st–3rd year BSSW students</a:t>
                      </a:r>
                      <a:endParaRPr altLang="en-US" lang="zh-CN"/>
                    </a:p>
                    <a:p>
                      <a:pPr algn="ctr">
                        <a:lnSpc>
                          <a:spcPct val="100000"/>
                        </a:lnSpc>
                      </a:pPr>
                      <a:r>
                        <a:rPr b="0" dirty="0" i="0" lang="en-US">
                          <a:effectLst/>
                        </a:rPr>
                        <a:t>Page. </a:t>
                      </a:r>
                      <a:r>
                        <a:rPr b="0" dirty="0" i="0" lang="en-US">
                          <a:effectLst/>
                        </a:rPr>
                        <a:t>6</a:t>
                      </a:r>
                      <a:endParaRPr dirty="0" lang="en-PH">
                        <a:solidFill>
                          <a:schemeClr val="tx1"/>
                        </a:solidFill>
                        <a:latin typeface="Times New Roman" panose="02020603050405020304" pitchFamily="18" charset="0"/>
                        <a:cs typeface="Times New Roman" panose="02020603050405020304" pitchFamily="18" charset="0"/>
                      </a:endParaRPr>
                    </a:p>
                  </a:txBody>
                </a:tc>
              </a:tr>
              <a:tr h="888730">
                <a:tc>
                  <a:txBody>
                    <a:bodyPr/>
                    <a:p>
                      <a:pPr algn="ctr" defTabSz="914400" eaLnBrk="1" fontAlgn="auto" hangingPunct="1" indent="0" latinLnBrk="0" lvl="0" marL="0" marR="0" rtl="0">
                        <a:lnSpc>
                          <a:spcPct val="100000"/>
                        </a:lnSpc>
                        <a:spcBef>
                          <a:spcPts val="0"/>
                        </a:spcBef>
                        <a:spcAft>
                          <a:spcPts val="0"/>
                        </a:spcAft>
                        <a:buClrTx/>
                        <a:buSzTx/>
                        <a:buFontTx/>
                        <a:buNone/>
                      </a:pPr>
                      <a:endParaRPr b="1" dirty="0" i="0" lang="en-PH">
                        <a:effectLst/>
                      </a:endParaRPr>
                    </a:p>
                    <a:p>
                      <a:pPr algn="ctr" defTabSz="914400" eaLnBrk="1" fontAlgn="auto" hangingPunct="1" indent="0" latinLnBrk="0" lvl="0" marL="0" marR="0" rtl="0">
                        <a:lnSpc>
                          <a:spcPct val="100000"/>
                        </a:lnSpc>
                        <a:spcBef>
                          <a:spcPts val="0"/>
                        </a:spcBef>
                        <a:spcAft>
                          <a:spcPts val="0"/>
                        </a:spcAft>
                        <a:buClrTx/>
                        <a:buSzTx/>
                        <a:buFontTx/>
                        <a:buNone/>
                      </a:pPr>
                      <a:r>
                        <a:rPr b="1" dirty="0" i="0" lang="en-PH">
                          <a:effectLst/>
                        </a:rPr>
                        <a:t>MA’AM LIZA</a:t>
                      </a:r>
                      <a:endParaRPr dirty="0" lang="en-PH">
                        <a:solidFill>
                          <a:schemeClr val="tx1"/>
                        </a:solidFill>
                        <a:latin typeface="Times New Roman" panose="02020603050405020304" pitchFamily="18" charset="0"/>
                        <a:cs typeface="Times New Roman" panose="02020603050405020304" pitchFamily="18" charset="0"/>
                      </a:endParaRPr>
                    </a:p>
                    <a:p>
                      <a:pPr>
                        <a:lnSpc>
                          <a:spcPct val="100000"/>
                        </a:lnSpc>
                      </a:pPr>
                      <a:endParaRPr dirty="0" lang="en-PH">
                        <a:solidFill>
                          <a:schemeClr val="tx1"/>
                        </a:solidFill>
                        <a:latin typeface="Times New Roman" panose="02020603050405020304" pitchFamily="18" charset="0"/>
                        <a:cs typeface="Times New Roman" panose="02020603050405020304" pitchFamily="18" charset="0"/>
                      </a:endParaRPr>
                    </a:p>
                  </a:txBody>
                </a:tc>
                <a:tc>
                  <a:txBody>
                    <a:bodyPr/>
                    <a:p>
                      <a:pPr algn="ctr">
                        <a:lnSpc>
                          <a:spcPct val="100000"/>
                        </a:lnSpc>
                      </a:pPr>
                      <a:r>
                        <a:rPr b="0" dirty="0" i="0" lang="en-US">
                          <a:effectLst/>
                        </a:rPr>
                        <a:t>Present the Research Instrument in paragraph form.</a:t>
                      </a:r>
                      <a:endParaRPr dirty="0" lang="en-PH">
                        <a:solidFill>
                          <a:schemeClr val="tx1"/>
                        </a:solidFill>
                        <a:latin typeface="Times New Roman" panose="02020603050405020304" pitchFamily="18" charset="0"/>
                        <a:cs typeface="Times New Roman" panose="02020603050405020304" pitchFamily="18" charset="0"/>
                      </a:endParaRPr>
                    </a:p>
                  </a:txBody>
                </a:tc>
                <a:tc>
                  <a:txBody>
                    <a:bodyPr/>
                    <a:p>
                      <a:pPr algn="ctr">
                        <a:lnSpc>
                          <a:spcPct val="100000"/>
                        </a:lnSpc>
                      </a:pPr>
                      <a:r>
                        <a:rPr b="0" dirty="0" i="0" lang="en-PH">
                          <a:effectLst/>
                        </a:rPr>
                        <a:t>The Research Instrument was rewritten in paragraph form, pages. </a:t>
                      </a:r>
                      <a:r>
                        <a:rPr b="0" dirty="0" i="0" lang="en-US">
                          <a:effectLst/>
                        </a:rPr>
                        <a:t>2</a:t>
                      </a:r>
                      <a:r>
                        <a:rPr b="0" dirty="0" i="0" lang="en-US">
                          <a:effectLst/>
                        </a:rPr>
                        <a:t>9</a:t>
                      </a:r>
                      <a:endParaRPr dirty="0" lang="en-PH">
                        <a:solidFill>
                          <a:schemeClr val="tx1"/>
                        </a:solidFill>
                        <a:latin typeface="Times New Roman" panose="02020603050405020304" pitchFamily="18" charset="0"/>
                        <a:cs typeface="Times New Roman" panose="02020603050405020304" pitchFamily="18" charset="0"/>
                      </a:endParaRPr>
                    </a:p>
                  </a:txBody>
                </a:tc>
              </a:tr>
              <a:tr h="1555278">
                <a:tc>
                  <a:txBody>
                    <a:bodyPr/>
                    <a:p>
                      <a:pPr algn="ctr">
                        <a:lnSpc>
                          <a:spcPct val="150000"/>
                        </a:lnSpc>
                      </a:pPr>
                      <a:endParaRPr b="1" dirty="0" i="0" lang="en-PH">
                        <a:effectLst/>
                      </a:endParaRPr>
                    </a:p>
                    <a:p>
                      <a:pPr algn="ctr">
                        <a:lnSpc>
                          <a:spcPct val="150000"/>
                        </a:lnSpc>
                      </a:pPr>
                      <a:r>
                        <a:rPr b="1" dirty="0" i="0" lang="en-PH">
                          <a:effectLst/>
                        </a:rPr>
                        <a:t>MA’AM LIZA &amp; </a:t>
                      </a:r>
                    </a:p>
                    <a:p>
                      <a:pPr algn="ctr">
                        <a:lnSpc>
                          <a:spcPct val="150000"/>
                        </a:lnSpc>
                      </a:pPr>
                      <a:r>
                        <a:rPr b="1" dirty="0" i="0" lang="en-PH">
                          <a:effectLst/>
                        </a:rPr>
                        <a:t>MA’AM ARNIGO</a:t>
                      </a:r>
                      <a:endParaRPr dirty="0" lang="en-PH">
                        <a:solidFill>
                          <a:schemeClr val="tx1"/>
                        </a:solidFill>
                        <a:latin typeface="Times New Roman" panose="02020603050405020304" pitchFamily="18" charset="0"/>
                        <a:cs typeface="Times New Roman" panose="02020603050405020304" pitchFamily="18" charset="0"/>
                      </a:endParaRPr>
                    </a:p>
                    <a:p>
                      <a:pPr>
                        <a:lnSpc>
                          <a:spcPct val="100000"/>
                        </a:lnSpc>
                      </a:pPr>
                      <a:endParaRPr dirty="0" lang="en-PH">
                        <a:solidFill>
                          <a:schemeClr val="tx1"/>
                        </a:solidFill>
                        <a:latin typeface="Times New Roman" panose="02020603050405020304" pitchFamily="18" charset="0"/>
                        <a:cs typeface="Times New Roman" panose="02020603050405020304" pitchFamily="18" charset="0"/>
                      </a:endParaRPr>
                    </a:p>
                  </a:txBody>
                </a:tc>
                <a:tc>
                  <a:txBody>
                    <a:bodyPr/>
                    <a:p>
                      <a:pPr algn="ctr" defTabSz="914400" eaLnBrk="1" fontAlgn="auto" hangingPunct="1" indent="0" latinLnBrk="0" lvl="0" marL="0" marR="0" rtl="0">
                        <a:lnSpc>
                          <a:spcPct val="100000"/>
                        </a:lnSpc>
                        <a:spcBef>
                          <a:spcPts val="0"/>
                        </a:spcBef>
                        <a:spcAft>
                          <a:spcPts val="0"/>
                        </a:spcAft>
                        <a:buClrTx/>
                        <a:buSzTx/>
                        <a:buFontTx/>
                        <a:buNone/>
                      </a:pPr>
                      <a:endParaRPr b="0" dirty="0" i="0" lang="en-US">
                        <a:effectLst/>
                      </a:endParaRPr>
                    </a:p>
                    <a:p>
                      <a:pPr algn="ctr" defTabSz="914400" eaLnBrk="1" fontAlgn="auto" hangingPunct="1" indent="0" latinLnBrk="0" lvl="0" marL="0" marR="0" rtl="0">
                        <a:lnSpc>
                          <a:spcPct val="100000"/>
                        </a:lnSpc>
                        <a:spcBef>
                          <a:spcPts val="0"/>
                        </a:spcBef>
                        <a:spcAft>
                          <a:spcPts val="0"/>
                        </a:spcAft>
                        <a:buClrTx/>
                        <a:buSzTx/>
                        <a:buFontTx/>
                        <a:buNone/>
                      </a:pPr>
                      <a:r>
                        <a:rPr b="0" dirty="0" i="0" lang="en-US">
                          <a:effectLst/>
                        </a:rPr>
                        <a:t>Use a mixed-method approach instead of purely qualitative research.</a:t>
                      </a:r>
                      <a:endParaRPr dirty="0" lang="en-PH">
                        <a:solidFill>
                          <a:schemeClr val="tx1"/>
                        </a:solidFill>
                        <a:latin typeface="Times New Roman" panose="02020603050405020304" pitchFamily="18" charset="0"/>
                        <a:cs typeface="Times New Roman" panose="02020603050405020304" pitchFamily="18" charset="0"/>
                      </a:endParaRPr>
                    </a:p>
                    <a:p>
                      <a:pPr algn="ctr">
                        <a:lnSpc>
                          <a:spcPct val="100000"/>
                        </a:lnSpc>
                      </a:pPr>
                      <a:endParaRPr dirty="0" lang="en-PH">
                        <a:solidFill>
                          <a:schemeClr val="tx1"/>
                        </a:solidFill>
                        <a:latin typeface="Times New Roman" panose="02020603050405020304" pitchFamily="18" charset="0"/>
                        <a:cs typeface="Times New Roman" panose="02020603050405020304" pitchFamily="18" charset="0"/>
                      </a:endParaRPr>
                    </a:p>
                  </a:txBody>
                </a:tc>
                <a:tc>
                  <a:txBody>
                    <a:bodyPr/>
                    <a:p>
                      <a:pPr algn="ctr" defTabSz="914400" eaLnBrk="1" fontAlgn="auto" hangingPunct="1" indent="0" latinLnBrk="0" lvl="0" marL="0" marR="0" rtl="0">
                        <a:lnSpc>
                          <a:spcPct val="100000"/>
                        </a:lnSpc>
                        <a:spcBef>
                          <a:spcPts val="0"/>
                        </a:spcBef>
                        <a:spcAft>
                          <a:spcPts val="0"/>
                        </a:spcAft>
                        <a:buClrTx/>
                        <a:buSzTx/>
                        <a:buFontTx/>
                        <a:buNone/>
                      </a:pPr>
                      <a:endParaRPr b="0" dirty="0" i="0" lang="en-US">
                        <a:effectLst/>
                      </a:endParaRPr>
                    </a:p>
                    <a:p>
                      <a:pPr algn="ctr" defTabSz="914400" eaLnBrk="1" fontAlgn="auto" hangingPunct="1" indent="0" latinLnBrk="0" lvl="0" marL="0" marR="0" rtl="0">
                        <a:lnSpc>
                          <a:spcPct val="100000"/>
                        </a:lnSpc>
                        <a:spcBef>
                          <a:spcPts val="0"/>
                        </a:spcBef>
                        <a:spcAft>
                          <a:spcPts val="0"/>
                        </a:spcAft>
                        <a:buClrTx/>
                        <a:buSzTx/>
                        <a:buFontTx/>
                        <a:buNone/>
                      </a:pPr>
                      <a:r>
                        <a:rPr b="0" dirty="0" i="0" lang="en-US">
                          <a:effectLst/>
                        </a:rPr>
                        <a:t>The research design was revised to a mixed-method approach. Page. </a:t>
                      </a:r>
                      <a:r>
                        <a:rPr b="0" dirty="0" i="0" lang="en-US">
                          <a:effectLst/>
                        </a:rPr>
                        <a:t>2</a:t>
                      </a:r>
                      <a:r>
                        <a:rPr b="0" dirty="0" i="0" lang="en-US">
                          <a:effectLst/>
                        </a:rPr>
                        <a:t>8</a:t>
                      </a:r>
                      <a:endParaRPr altLang="en-US" lang="zh-CN"/>
                    </a:p>
                    <a:p>
                      <a:pPr algn="ctr">
                        <a:lnSpc>
                          <a:spcPct val="100000"/>
                        </a:lnSpc>
                      </a:pPr>
                      <a:endParaRPr dirty="0" lang="en-PH">
                        <a:solidFill>
                          <a:schemeClr val="tx1"/>
                        </a:solidFill>
                        <a:latin typeface="Times New Roman" panose="02020603050405020304" pitchFamily="18" charset="0"/>
                        <a:cs typeface="Times New Roman" panose="02020603050405020304" pitchFamily="18" charset="0"/>
                      </a:endParaRPr>
                    </a:p>
                  </a:txBody>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1048590" name="Title 1"/>
          <p:cNvSpPr>
            <a:spLocks noGrp="1"/>
          </p:cNvSpPr>
          <p:nvPr>
            <p:ph type="title"/>
          </p:nvPr>
        </p:nvSpPr>
        <p:spPr>
          <a:xfrm>
            <a:off x="679174" y="500062"/>
            <a:ext cx="10515600" cy="1325563"/>
          </a:xfrm>
        </p:spPr>
        <p:txBody>
          <a:bodyPr>
            <a:normAutofit/>
          </a:bodyPr>
          <a:p>
            <a:pPr algn="ctr"/>
            <a:r>
              <a:rPr b="1" dirty="0" lang="en-PH">
                <a:latin typeface="Times New Roman" panose="02020603050405020304" pitchFamily="18" charset="0"/>
                <a:cs typeface="Times New Roman" panose="02020603050405020304" pitchFamily="18" charset="0"/>
              </a:rPr>
              <a:t>Panel’s comments and actions taken</a:t>
            </a:r>
            <a:endParaRPr b="1" dirty="0" lang="en-PH">
              <a:latin typeface="Times New Roman" panose="02020603050405020304" pitchFamily="18" charset="0"/>
              <a:cs typeface="Times New Roman" panose="02020603050405020304" pitchFamily="18" charset="0"/>
            </a:endParaRPr>
          </a:p>
        </p:txBody>
      </p:sp>
      <p:sp>
        <p:nvSpPr>
          <p:cNvPr id="1048591" name="Content Placeholder 3"/>
          <p:cNvSpPr>
            <a:spLocks noGrp="1"/>
          </p:cNvSpPr>
          <p:nvPr>
            <p:ph idx="1"/>
          </p:nvPr>
        </p:nvSpPr>
        <p:spPr/>
        <p:txBody>
          <a:bodyPr/>
          <a:p>
            <a:pPr algn="ctr"/>
            <a:endParaRPr dirty="0" lang="en-PH"/>
          </a:p>
          <a:p>
            <a:pPr algn="ctr"/>
            <a:endParaRPr dirty="0" lang="en-PH"/>
          </a:p>
        </p:txBody>
      </p:sp>
      <p:graphicFrame>
        <p:nvGraphicFramePr>
          <p:cNvPr id="4194305" name="Table 5"/>
          <p:cNvGraphicFramePr>
            <a:graphicFrameLocks noGrp="1"/>
          </p:cNvGraphicFramePr>
          <p:nvPr/>
        </p:nvGraphicFramePr>
        <p:xfrm>
          <a:off x="997226" y="1373805"/>
          <a:ext cx="10197549" cy="4295922"/>
        </p:xfrm>
        <a:graphic>
          <a:graphicData uri="http://schemas.openxmlformats.org/drawingml/2006/table">
            <a:tbl>
              <a:tblPr firstRow="1" bandRow="1">
                <a:tableStyleId>{F5AB1C69-6EDB-4FF4-983F-18BD219EF322}</a:tableStyleId>
              </a:tblPr>
              <a:tblGrid>
                <a:gridCol w="3399183"/>
                <a:gridCol w="3399183"/>
                <a:gridCol w="3399183"/>
              </a:tblGrid>
              <a:tr h="715987">
                <a:tc>
                  <a:txBody>
                    <a:bodyPr/>
                    <a:p>
                      <a:pPr algn="ctr"/>
                      <a:r>
                        <a:rPr b="1" dirty="0" sz="2000" i="0" lang="en-PH">
                          <a:solidFill>
                            <a:schemeClr val="tx1"/>
                          </a:solidFill>
                          <a:effectLst/>
                          <a:latin typeface="Times New Roman" panose="02020603050405020304" pitchFamily="18" charset="0"/>
                          <a:cs typeface="Times New Roman" panose="02020603050405020304" pitchFamily="18" charset="0"/>
                        </a:rPr>
                        <a:t>PANEL MEMBER</a:t>
                      </a:r>
                      <a:endParaRPr dirty="0" sz="2000" lang="en-PH">
                        <a:solidFill>
                          <a:schemeClr val="tx1"/>
                        </a:solidFill>
                        <a:latin typeface="Times New Roman" panose="02020603050405020304" pitchFamily="18" charset="0"/>
                        <a:cs typeface="Times New Roman" panose="02020603050405020304" pitchFamily="18" charset="0"/>
                      </a:endParaRPr>
                    </a:p>
                  </a:txBody>
                </a:tc>
                <a:tc>
                  <a:txBody>
                    <a:bodyPr/>
                    <a:p>
                      <a:pPr algn="ctr"/>
                      <a:r>
                        <a:rPr dirty="0" sz="2000" lang="en-US">
                          <a:solidFill>
                            <a:schemeClr val="tx1"/>
                          </a:solidFill>
                          <a:latin typeface="Times New Roman" panose="02020603050405020304" pitchFamily="18" charset="0"/>
                          <a:cs typeface="Times New Roman" panose="02020603050405020304" pitchFamily="18" charset="0"/>
                        </a:rPr>
                        <a:t>COMMENTS/</a:t>
                      </a:r>
                    </a:p>
                    <a:p>
                      <a:pPr algn="ctr"/>
                      <a:r>
                        <a:rPr dirty="0" sz="2000" lang="en-US">
                          <a:solidFill>
                            <a:schemeClr val="tx1"/>
                          </a:solidFill>
                          <a:latin typeface="Times New Roman" panose="02020603050405020304" pitchFamily="18" charset="0"/>
                          <a:cs typeface="Times New Roman" panose="02020603050405020304" pitchFamily="18" charset="0"/>
                        </a:rPr>
                        <a:t>RECOMMENDATIONS </a:t>
                      </a:r>
                      <a:endParaRPr dirty="0" sz="2000" lang="en-PH">
                        <a:solidFill>
                          <a:schemeClr val="tx1"/>
                        </a:solidFill>
                        <a:latin typeface="Times New Roman" panose="02020603050405020304" pitchFamily="18" charset="0"/>
                        <a:cs typeface="Times New Roman" panose="02020603050405020304" pitchFamily="18" charset="0"/>
                      </a:endParaRPr>
                    </a:p>
                  </a:txBody>
                </a:tc>
                <a:tc>
                  <a:txBody>
                    <a:bodyPr/>
                    <a:p>
                      <a:pPr algn="ctr"/>
                      <a:r>
                        <a:rPr dirty="0" sz="2000" lang="en-US">
                          <a:solidFill>
                            <a:schemeClr val="tx1"/>
                          </a:solidFill>
                          <a:latin typeface="Times New Roman" panose="02020603050405020304" pitchFamily="18" charset="0"/>
                          <a:cs typeface="Times New Roman" panose="02020603050405020304" pitchFamily="18" charset="0"/>
                        </a:rPr>
                        <a:t>ACTION TAKEN </a:t>
                      </a:r>
                      <a:endParaRPr dirty="0" sz="2000" lang="en-PH">
                        <a:solidFill>
                          <a:schemeClr val="tx1"/>
                        </a:solidFill>
                        <a:latin typeface="Times New Roman" panose="02020603050405020304" pitchFamily="18" charset="0"/>
                        <a:cs typeface="Times New Roman" panose="02020603050405020304" pitchFamily="18" charset="0"/>
                      </a:endParaRPr>
                    </a:p>
                  </a:txBody>
                </a:tc>
              </a:tr>
              <a:tr h="715987">
                <a:tc>
                  <a:txBody>
                    <a:bodyPr/>
                    <a:p>
                      <a:pPr algn="ctr"/>
                      <a:endParaRPr dirty="0" sz="2000" lang="en-PH">
                        <a:solidFill>
                          <a:schemeClr val="tx1"/>
                        </a:solidFill>
                        <a:latin typeface="Times New Roman" panose="02020603050405020304" pitchFamily="18" charset="0"/>
                        <a:cs typeface="Times New Roman" panose="02020603050405020304" pitchFamily="18" charset="0"/>
                      </a:endParaRPr>
                    </a:p>
                  </a:txBody>
                </a:tc>
                <a:tc>
                  <a:txBody>
                    <a:bodyPr/>
                    <a:p>
                      <a:pPr algn="ctr"/>
                      <a:endParaRPr dirty="0" sz="2000" lang="en-PH">
                        <a:solidFill>
                          <a:schemeClr val="tx1"/>
                        </a:solidFill>
                        <a:latin typeface="Times New Roman" panose="02020603050405020304" pitchFamily="18" charset="0"/>
                        <a:cs typeface="Times New Roman" panose="02020603050405020304" pitchFamily="18" charset="0"/>
                      </a:endParaRPr>
                    </a:p>
                  </a:txBody>
                </a:tc>
                <a:tc>
                  <a:txBody>
                    <a:bodyPr/>
                    <a:p>
                      <a:pPr algn="ctr"/>
                      <a:endParaRPr dirty="0" sz="2000" lang="en-PH">
                        <a:solidFill>
                          <a:schemeClr val="tx1"/>
                        </a:solidFill>
                        <a:latin typeface="Times New Roman" panose="02020603050405020304" pitchFamily="18" charset="0"/>
                        <a:cs typeface="Times New Roman" panose="02020603050405020304" pitchFamily="18" charset="0"/>
                      </a:endParaRPr>
                    </a:p>
                  </a:txBody>
                </a:tc>
              </a:tr>
              <a:tr h="715987">
                <a:tc>
                  <a:txBody>
                    <a:bodyPr/>
                    <a:p>
                      <a:pPr algn="ctr"/>
                      <a:endParaRPr dirty="0" sz="2000" lang="en-PH">
                        <a:solidFill>
                          <a:schemeClr val="tx1"/>
                        </a:solidFill>
                        <a:latin typeface="Times New Roman" panose="02020603050405020304" pitchFamily="18" charset="0"/>
                        <a:cs typeface="Times New Roman" panose="02020603050405020304" pitchFamily="18" charset="0"/>
                      </a:endParaRPr>
                    </a:p>
                  </a:txBody>
                </a:tc>
                <a:tc>
                  <a:txBody>
                    <a:bodyPr/>
                    <a:p>
                      <a:pPr algn="ctr"/>
                      <a:endParaRPr dirty="0" sz="2000" lang="en-PH">
                        <a:solidFill>
                          <a:schemeClr val="tx1"/>
                        </a:solidFill>
                        <a:latin typeface="Times New Roman" panose="02020603050405020304" pitchFamily="18" charset="0"/>
                        <a:cs typeface="Times New Roman" panose="02020603050405020304" pitchFamily="18" charset="0"/>
                      </a:endParaRPr>
                    </a:p>
                  </a:txBody>
                </a:tc>
                <a:tc>
                  <a:txBody>
                    <a:bodyPr/>
                    <a:p>
                      <a:pPr algn="ctr"/>
                      <a:endParaRPr dirty="0" sz="2000" lang="en-PH">
                        <a:solidFill>
                          <a:schemeClr val="tx1"/>
                        </a:solidFill>
                        <a:latin typeface="Times New Roman" panose="02020603050405020304" pitchFamily="18" charset="0"/>
                        <a:cs typeface="Times New Roman" panose="02020603050405020304" pitchFamily="18" charset="0"/>
                      </a:endParaRPr>
                    </a:p>
                  </a:txBody>
                </a:tc>
              </a:tr>
              <a:tr h="715987">
                <a:tc>
                  <a:txBody>
                    <a:bodyPr/>
                    <a:p>
                      <a:pPr algn="ctr"/>
                      <a:endParaRPr dirty="0" sz="2000" lang="en-PH">
                        <a:solidFill>
                          <a:schemeClr val="tx1"/>
                        </a:solidFill>
                        <a:latin typeface="Times New Roman" panose="02020603050405020304" pitchFamily="18" charset="0"/>
                        <a:cs typeface="Times New Roman" panose="02020603050405020304" pitchFamily="18" charset="0"/>
                      </a:endParaRPr>
                    </a:p>
                  </a:txBody>
                </a:tc>
                <a:tc>
                  <a:txBody>
                    <a:bodyPr/>
                    <a:p>
                      <a:pPr algn="ctr"/>
                      <a:endParaRPr dirty="0" sz="2000" lang="en-PH">
                        <a:solidFill>
                          <a:schemeClr val="tx1"/>
                        </a:solidFill>
                        <a:latin typeface="Times New Roman" panose="02020603050405020304" pitchFamily="18" charset="0"/>
                        <a:cs typeface="Times New Roman" panose="02020603050405020304" pitchFamily="18" charset="0"/>
                      </a:endParaRPr>
                    </a:p>
                  </a:txBody>
                </a:tc>
                <a:tc>
                  <a:txBody>
                    <a:bodyPr/>
                    <a:p>
                      <a:pPr algn="ctr"/>
                      <a:endParaRPr dirty="0" sz="2000" lang="en-PH">
                        <a:solidFill>
                          <a:schemeClr val="tx1"/>
                        </a:solidFill>
                        <a:latin typeface="Times New Roman" panose="02020603050405020304" pitchFamily="18" charset="0"/>
                        <a:cs typeface="Times New Roman" panose="02020603050405020304" pitchFamily="18" charset="0"/>
                      </a:endParaRPr>
                    </a:p>
                  </a:txBody>
                </a:tc>
              </a:tr>
              <a:tr h="715987">
                <a:tc>
                  <a:txBody>
                    <a:bodyPr/>
                    <a:p>
                      <a:pPr algn="ctr"/>
                      <a:endParaRPr dirty="0" sz="2000" lang="en-PH">
                        <a:solidFill>
                          <a:schemeClr val="tx1"/>
                        </a:solidFill>
                        <a:latin typeface="Times New Roman" panose="02020603050405020304" pitchFamily="18" charset="0"/>
                        <a:cs typeface="Times New Roman" panose="02020603050405020304" pitchFamily="18" charset="0"/>
                      </a:endParaRPr>
                    </a:p>
                  </a:txBody>
                </a:tc>
                <a:tc>
                  <a:txBody>
                    <a:bodyPr/>
                    <a:p>
                      <a:pPr algn="ctr"/>
                      <a:endParaRPr dirty="0" sz="2000" lang="en-PH">
                        <a:solidFill>
                          <a:schemeClr val="tx1"/>
                        </a:solidFill>
                        <a:latin typeface="Times New Roman" panose="02020603050405020304" pitchFamily="18" charset="0"/>
                        <a:cs typeface="Times New Roman" panose="02020603050405020304" pitchFamily="18" charset="0"/>
                      </a:endParaRPr>
                    </a:p>
                  </a:txBody>
                </a:tc>
                <a:tc>
                  <a:txBody>
                    <a:bodyPr/>
                    <a:p>
                      <a:pPr algn="ctr"/>
                      <a:endParaRPr dirty="0" sz="2000" lang="en-PH">
                        <a:solidFill>
                          <a:schemeClr val="tx1"/>
                        </a:solidFill>
                        <a:latin typeface="Times New Roman" panose="02020603050405020304" pitchFamily="18" charset="0"/>
                        <a:cs typeface="Times New Roman" panose="02020603050405020304" pitchFamily="18" charset="0"/>
                      </a:endParaRPr>
                    </a:p>
                  </a:txBody>
                </a:tc>
              </a:tr>
              <a:tr h="715987">
                <a:tc>
                  <a:txBody>
                    <a:bodyPr/>
                    <a:p>
                      <a:pPr algn="ctr"/>
                      <a:endParaRPr dirty="0" sz="2000" lang="en-PH">
                        <a:solidFill>
                          <a:schemeClr val="tx1"/>
                        </a:solidFill>
                        <a:latin typeface="Times New Roman" panose="02020603050405020304" pitchFamily="18" charset="0"/>
                        <a:cs typeface="Times New Roman" panose="02020603050405020304" pitchFamily="18" charset="0"/>
                      </a:endParaRPr>
                    </a:p>
                  </a:txBody>
                </a:tc>
                <a:tc>
                  <a:txBody>
                    <a:bodyPr/>
                    <a:p>
                      <a:pPr algn="ctr"/>
                      <a:endParaRPr dirty="0" sz="2000" lang="en-PH">
                        <a:solidFill>
                          <a:schemeClr val="tx1"/>
                        </a:solidFill>
                        <a:latin typeface="Times New Roman" panose="02020603050405020304" pitchFamily="18" charset="0"/>
                        <a:cs typeface="Times New Roman" panose="02020603050405020304" pitchFamily="18" charset="0"/>
                      </a:endParaRPr>
                    </a:p>
                  </a:txBody>
                </a:tc>
                <a:tc>
                  <a:txBody>
                    <a:bodyPr/>
                    <a:p>
                      <a:pPr algn="ctr"/>
                      <a:endParaRPr dirty="0" sz="2000" lang="en-PH">
                        <a:solidFill>
                          <a:schemeClr val="tx1"/>
                        </a:solidFill>
                        <a:latin typeface="Times New Roman" panose="02020603050405020304" pitchFamily="18" charset="0"/>
                        <a:cs typeface="Times New Roman" panose="02020603050405020304" pitchFamily="18" charset="0"/>
                      </a:endParaRPr>
                    </a:p>
                  </a:txBody>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sp>
        <p:nvSpPr>
          <p:cNvPr id="1048592" name="Title 1"/>
          <p:cNvSpPr>
            <a:spLocks noGrp="1"/>
          </p:cNvSpPr>
          <p:nvPr>
            <p:ph type="title"/>
          </p:nvPr>
        </p:nvSpPr>
        <p:spPr/>
        <p:txBody>
          <a:bodyPr>
            <a:normAutofit/>
          </a:bodyPr>
          <a:p>
            <a:pPr algn="ctr"/>
            <a:r>
              <a:rPr b="1" dirty="0" lang="en-PH">
                <a:latin typeface="Times New Roman" panose="02020603050405020304" pitchFamily="18" charset="0"/>
                <a:cs typeface="Times New Roman" panose="02020603050405020304" pitchFamily="18" charset="0"/>
              </a:rPr>
              <a:t>CHAPTER 1 – Brief introduction</a:t>
            </a:r>
          </a:p>
        </p:txBody>
      </p:sp>
      <p:sp>
        <p:nvSpPr>
          <p:cNvPr id="1048593" name="Content Placeholder 3"/>
          <p:cNvSpPr>
            <a:spLocks noGrp="1"/>
          </p:cNvSpPr>
          <p:nvPr>
            <p:ph idx="1"/>
          </p:nvPr>
        </p:nvSpPr>
        <p:spPr>
          <a:xfrm>
            <a:off x="1081708" y="1441312"/>
            <a:ext cx="10028583" cy="4919732"/>
          </a:xfrm>
        </p:spPr>
        <p:txBody>
          <a:bodyPr>
            <a:normAutofit fontScale="25000" lnSpcReduction="20000"/>
          </a:bodyPr>
          <a:p>
            <a:pPr algn="l"/>
            <a:endParaRPr dirty="0" lang="en-PH"/>
          </a:p>
          <a:p>
            <a:pPr algn="l" indent="0" marL="0">
              <a:buNone/>
            </a:pPr>
            <a:r>
              <a:rPr b="0" dirty="0" sz="14400" i="0" lang="en-US">
                <a:effectLst/>
                <a:latin typeface="Times New Roman" panose="02020603050405020304" pitchFamily="18" charset="0"/>
                <a:cs typeface="Times New Roman" panose="02020603050405020304" pitchFamily="18" charset="0"/>
              </a:rPr>
              <a:t>Many college students work while studying to support their financial needs and families. Although part-time work provides income and valuable experience, balancing academic and work responsibilities can create stress and affect students' psychological well-being. Working students often face challenges such as time pressure, heavy workloads, and limited support. Therefore, effective coping strategies are important in helping them manage stress, maintain their well-being, and succeed in both their studies and work.</a:t>
            </a:r>
            <a:endParaRPr dirty="0" sz="14400" lang="en-PH">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p:nvSpPr>
          <p:cNvPr id="1048594" name="Title 1"/>
          <p:cNvSpPr>
            <a:spLocks noGrp="1"/>
          </p:cNvSpPr>
          <p:nvPr>
            <p:ph type="title"/>
          </p:nvPr>
        </p:nvSpPr>
        <p:spPr/>
        <p:txBody>
          <a:bodyPr/>
          <a:p>
            <a:pPr algn="ctr"/>
            <a:r>
              <a:rPr b="1" dirty="0" lang="en-PH">
                <a:latin typeface="Times New Roman" panose="02020603050405020304" pitchFamily="18" charset="0"/>
                <a:cs typeface="Times New Roman" panose="02020603050405020304" pitchFamily="18" charset="0"/>
              </a:rPr>
              <a:t>Theoretical Framework</a:t>
            </a:r>
          </a:p>
        </p:txBody>
      </p:sp>
      <p:sp>
        <p:nvSpPr>
          <p:cNvPr id="1048595" name="Content Placeholder 3"/>
          <p:cNvSpPr>
            <a:spLocks noGrp="1"/>
          </p:cNvSpPr>
          <p:nvPr>
            <p:ph idx="1"/>
          </p:nvPr>
        </p:nvSpPr>
        <p:spPr>
          <a:xfrm>
            <a:off x="578126" y="1288263"/>
            <a:ext cx="11401840" cy="5041416"/>
          </a:xfrm>
        </p:spPr>
        <p:txBody>
          <a:bodyPr>
            <a:normAutofit fontScale="92500" lnSpcReduction="10000"/>
          </a:bodyPr>
          <a:p>
            <a:pPr algn="l"/>
            <a:endParaRPr dirty="0" sz="1600" lang="en-PH"/>
          </a:p>
          <a:p>
            <a:pPr algn="l">
              <a:buFont typeface="Arial" panose="020B0604020202020204" pitchFamily="34" charset="0"/>
              <a:buChar char="•"/>
            </a:pPr>
            <a:r>
              <a:rPr b="1" dirty="0" sz="3200" i="0" lang="en-US">
                <a:effectLst/>
                <a:latin typeface="Times New Roman" panose="02020603050405020304" pitchFamily="18" charset="0"/>
                <a:cs typeface="Times New Roman" panose="02020603050405020304" pitchFamily="18" charset="0"/>
              </a:rPr>
              <a:t>Bandura's theory </a:t>
            </a:r>
            <a:r>
              <a:rPr b="0" dirty="0" sz="3200" i="0" lang="en-US">
                <a:effectLst/>
                <a:latin typeface="Times New Roman" panose="02020603050405020304" pitchFamily="18" charset="0"/>
                <a:cs typeface="Times New Roman" panose="02020603050405020304" pitchFamily="18" charset="0"/>
              </a:rPr>
              <a:t>explains that students' psychological well-being is influenced by the interaction of their personal factors, environment, and behaviors. For working students, these include their thoughts and emotions, academic and work demands, and the coping strategies they use. </a:t>
            </a:r>
            <a:endParaRPr dirty="0" sz="3200" lang="en-US">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b="1" dirty="0" sz="3200" i="0" lang="en-US">
                <a:effectLst/>
                <a:latin typeface="Times New Roman" panose="02020603050405020304" pitchFamily="18" charset="0"/>
                <a:cs typeface="Times New Roman" panose="02020603050405020304" pitchFamily="18" charset="0"/>
              </a:rPr>
              <a:t>Lazarus and Folkman's</a:t>
            </a:r>
            <a:r>
              <a:rPr b="0" dirty="0" sz="3200" i="0" lang="en-US">
                <a:effectLst/>
                <a:latin typeface="Times New Roman" panose="02020603050405020304" pitchFamily="18" charset="0"/>
                <a:cs typeface="Times New Roman" panose="02020603050405020304" pitchFamily="18" charset="0"/>
              </a:rPr>
              <a:t> theory explains how students assess stressful situations and choose ways to cope with them. These coping strategies may include time management, seeking support, and self-care practices. </a:t>
            </a:r>
            <a:endParaRPr dirty="0" sz="3200" lang="en-US">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b="0" dirty="0" sz="3200" i="0" lang="en-US">
                <a:effectLst/>
                <a:latin typeface="Times New Roman" panose="02020603050405020304" pitchFamily="18" charset="0"/>
                <a:cs typeface="Times New Roman" panose="02020603050405020304" pitchFamily="18" charset="0"/>
              </a:rPr>
              <a:t>Together, these theories help explain how </a:t>
            </a:r>
            <a:r>
              <a:rPr b="0" dirty="0" sz="3200" i="0" lang="en-US">
                <a:effectLst/>
                <a:latin typeface="Times New Roman" panose="02020603050405020304" pitchFamily="18" charset="0"/>
                <a:cs typeface="Times New Roman" panose="02020603050405020304" pitchFamily="18" charset="0"/>
              </a:rPr>
              <a:t>B</a:t>
            </a:r>
            <a:r>
              <a:rPr b="0" dirty="0" sz="3200" i="0" lang="en-US">
                <a:effectLst/>
                <a:latin typeface="Times New Roman" panose="02020603050405020304" pitchFamily="18" charset="0"/>
                <a:cs typeface="Times New Roman" panose="02020603050405020304" pitchFamily="18" charset="0"/>
              </a:rPr>
              <a:t>S</a:t>
            </a:r>
            <a:r>
              <a:rPr b="0" dirty="0" sz="3200" i="0" lang="en-US">
                <a:effectLst/>
                <a:latin typeface="Times New Roman" panose="02020603050405020304" pitchFamily="18" charset="0"/>
                <a:cs typeface="Times New Roman" panose="02020603050405020304" pitchFamily="18" charset="0"/>
              </a:rPr>
              <a:t>S</a:t>
            </a:r>
            <a:r>
              <a:rPr b="0" dirty="0" sz="3200" i="0" lang="en-US">
                <a:effectLst/>
                <a:latin typeface="Times New Roman" panose="02020603050405020304" pitchFamily="18" charset="0"/>
                <a:cs typeface="Times New Roman" panose="02020603050405020304" pitchFamily="18" charset="0"/>
              </a:rPr>
              <a:t>W</a:t>
            </a:r>
            <a:r>
              <a:rPr b="0" dirty="0" sz="3200" i="0" lang="en-US">
                <a:effectLst/>
                <a:latin typeface="Times New Roman" panose="02020603050405020304" pitchFamily="18" charset="0"/>
                <a:cs typeface="Times New Roman" panose="02020603050405020304" pitchFamily="18" charset="0"/>
              </a:rPr>
              <a:t> </a:t>
            </a:r>
            <a:r>
              <a:rPr b="0" dirty="0" sz="3200" i="0" lang="en-US">
                <a:effectLst/>
                <a:latin typeface="Times New Roman" panose="02020603050405020304" pitchFamily="18" charset="0"/>
                <a:cs typeface="Times New Roman" panose="02020603050405020304" pitchFamily="18" charset="0"/>
              </a:rPr>
              <a:t>w</a:t>
            </a:r>
            <a:r>
              <a:rPr b="0" dirty="0" sz="3200" i="0" lang="en-US">
                <a:effectLst/>
                <a:latin typeface="Times New Roman" panose="02020603050405020304" pitchFamily="18" charset="0"/>
                <a:cs typeface="Times New Roman" panose="02020603050405020304" pitchFamily="18" charset="0"/>
              </a:rPr>
              <a:t>orking </a:t>
            </a:r>
            <a:r>
              <a:rPr b="0" dirty="0" sz="3200" i="0" lang="en-US">
                <a:effectLst/>
                <a:latin typeface="Times New Roman" panose="02020603050405020304" pitchFamily="18" charset="0"/>
                <a:cs typeface="Times New Roman" panose="02020603050405020304" pitchFamily="18" charset="0"/>
              </a:rPr>
              <a:t>students manage academic and work-related challenges while maintaining their psychological well-being.</a:t>
            </a:r>
            <a:endParaRPr dirty="0" sz="3200" lang="en-US">
              <a:latin typeface="Times New Roman" panose="02020603050405020304" pitchFamily="18" charset="0"/>
              <a:cs typeface="Times New Roman" panose="02020603050405020304" pitchFamily="18" charset="0"/>
            </a:endParaRPr>
          </a:p>
          <a:p>
            <a:pPr algn="l" indent="0" marL="0">
              <a:buNone/>
            </a:pPr>
            <a:endParaRPr dirty="0" sz="1200" lang="en-PH"/>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596" name="Title 1"/>
          <p:cNvSpPr>
            <a:spLocks noGrp="1"/>
          </p:cNvSpPr>
          <p:nvPr>
            <p:ph type="title"/>
          </p:nvPr>
        </p:nvSpPr>
        <p:spPr>
          <a:xfrm>
            <a:off x="838200" y="0"/>
            <a:ext cx="10515600" cy="1325563"/>
          </a:xfrm>
        </p:spPr>
        <p:txBody>
          <a:bodyPr/>
          <a:p>
            <a:pPr algn="ctr"/>
            <a:r>
              <a:rPr b="1" dirty="0" lang="en-US">
                <a:latin typeface="Times New Roman" panose="02020603050405020304" pitchFamily="18" charset="0"/>
                <a:cs typeface="Times New Roman" panose="02020603050405020304" pitchFamily="18" charset="0"/>
              </a:rPr>
              <a:t>Research Paradigm </a:t>
            </a:r>
            <a:endParaRPr b="1" dirty="0" lang="en-PH">
              <a:latin typeface="Times New Roman" panose="02020603050405020304" pitchFamily="18" charset="0"/>
              <a:cs typeface="Times New Roman" panose="02020603050405020304" pitchFamily="18" charset="0"/>
            </a:endParaRPr>
          </a:p>
        </p:txBody>
      </p:sp>
      <p:pic>
        <p:nvPicPr>
          <p:cNvPr id="2097152" name="Content Placeholder 3"/>
          <p:cNvPicPr>
            <a:picLocks noChangeAspect="1" noGrp="1"/>
          </p:cNvPicPr>
          <p:nvPr>
            <p:ph idx="1"/>
          </p:nvPr>
        </p:nvPicPr>
        <p:blipFill>
          <a:blip xmlns:r="http://schemas.openxmlformats.org/officeDocument/2006/relationships" r:embed="rId1"/>
          <a:stretch>
            <a:fillRect/>
          </a:stretch>
        </p:blipFill>
        <p:spPr>
          <a:xfrm>
            <a:off x="838200" y="1083856"/>
            <a:ext cx="10227027" cy="5674753"/>
          </a:xfrm>
          <a:prstGeom prst="rec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597" name="Title 1"/>
          <p:cNvSpPr>
            <a:spLocks noGrp="1"/>
          </p:cNvSpPr>
          <p:nvPr>
            <p:ph type="title"/>
          </p:nvPr>
        </p:nvSpPr>
        <p:spPr>
          <a:xfrm>
            <a:off x="838200" y="0"/>
            <a:ext cx="10515600" cy="1325563"/>
          </a:xfrm>
        </p:spPr>
        <p:txBody>
          <a:bodyPr/>
          <a:p>
            <a:pPr algn="ctr"/>
            <a:r>
              <a:rPr b="1" dirty="0" lang="en-PH">
                <a:latin typeface="Times New Roman" panose="02020603050405020304" pitchFamily="18" charset="0"/>
                <a:cs typeface="Times New Roman" panose="02020603050405020304" pitchFamily="18" charset="0"/>
              </a:rPr>
              <a:t>Scope and Limitation</a:t>
            </a:r>
          </a:p>
        </p:txBody>
      </p:sp>
      <p:sp>
        <p:nvSpPr>
          <p:cNvPr id="1048598" name="Content Placeholder 3"/>
          <p:cNvSpPr>
            <a:spLocks noGrp="1"/>
          </p:cNvSpPr>
          <p:nvPr>
            <p:ph idx="1"/>
          </p:nvPr>
        </p:nvSpPr>
        <p:spPr>
          <a:xfrm>
            <a:off x="838200" y="1088465"/>
            <a:ext cx="5350564" cy="5290931"/>
          </a:xfrm>
        </p:spPr>
        <p:txBody>
          <a:bodyPr>
            <a:normAutofit fontScale="59762" lnSpcReduction="20000"/>
          </a:bodyPr>
          <a:p>
            <a:pPr algn="ctr" indent="0" marL="0">
              <a:buNone/>
            </a:pPr>
            <a:r>
              <a:rPr b="1" dirty="0" sz="4600" lang="en-PH">
                <a:latin typeface="Times New Roman" panose="02020603050405020304" pitchFamily="18" charset="0"/>
                <a:cs typeface="Times New Roman" panose="02020603050405020304" pitchFamily="18" charset="0"/>
              </a:rPr>
              <a:t>SCOPE</a:t>
            </a:r>
          </a:p>
          <a:p>
            <a:pPr algn="ctr" indent="0" marL="0">
              <a:buNone/>
            </a:pPr>
            <a:endParaRPr b="1" dirty="0" sz="4200" lang="en-PH">
              <a:latin typeface="Times New Roman" panose="02020603050405020304" pitchFamily="18" charset="0"/>
              <a:cs typeface="Times New Roman" panose="02020603050405020304" pitchFamily="18" charset="0"/>
            </a:endParaRPr>
          </a:p>
          <a:p>
            <a:pPr algn="l"/>
            <a:r>
              <a:rPr b="0" dirty="0" sz="4200" i="0" lang="en-US">
                <a:effectLst/>
                <a:latin typeface="Times New Roman" panose="02020603050405020304" pitchFamily="18" charset="0"/>
                <a:cs typeface="Times New Roman" panose="02020603050405020304" pitchFamily="18" charset="0"/>
              </a:rPr>
              <a:t>This study focuses on the psychological well-being, challenges, and coping strategies of</a:t>
            </a:r>
            <a:r>
              <a:rPr b="0" dirty="0" sz="4200" i="0" lang="en-US">
                <a:effectLst/>
                <a:latin typeface="Times New Roman" panose="02020603050405020304" pitchFamily="18" charset="0"/>
                <a:cs typeface="Times New Roman" panose="02020603050405020304" pitchFamily="18" charset="0"/>
              </a:rPr>
              <a:t> </a:t>
            </a:r>
            <a:r>
              <a:rPr b="0" dirty="0" sz="4200" i="0" lang="en-US">
                <a:effectLst/>
                <a:latin typeface="Times New Roman" panose="02020603050405020304" pitchFamily="18" charset="0"/>
                <a:cs typeface="Times New Roman" panose="02020603050405020304" pitchFamily="18" charset="0"/>
              </a:rPr>
              <a:t>B</a:t>
            </a:r>
            <a:r>
              <a:rPr b="0" dirty="0" sz="4200" i="0" lang="en-US">
                <a:effectLst/>
                <a:latin typeface="Times New Roman" panose="02020603050405020304" pitchFamily="18" charset="0"/>
                <a:cs typeface="Times New Roman" panose="02020603050405020304" pitchFamily="18" charset="0"/>
              </a:rPr>
              <a:t>S</a:t>
            </a:r>
            <a:r>
              <a:rPr b="0" dirty="0" sz="4200" i="0" lang="en-US">
                <a:effectLst/>
                <a:latin typeface="Times New Roman" panose="02020603050405020304" pitchFamily="18" charset="0"/>
                <a:cs typeface="Times New Roman" panose="02020603050405020304" pitchFamily="18" charset="0"/>
              </a:rPr>
              <a:t>S</a:t>
            </a:r>
            <a:r>
              <a:rPr b="0" dirty="0" sz="4200" i="0" lang="en-US">
                <a:effectLst/>
                <a:latin typeface="Times New Roman" panose="02020603050405020304" pitchFamily="18" charset="0"/>
                <a:cs typeface="Times New Roman" panose="02020603050405020304" pitchFamily="18" charset="0"/>
              </a:rPr>
              <a:t>W</a:t>
            </a:r>
            <a:r>
              <a:rPr b="0" dirty="0" sz="4200" i="0" lang="en-US">
                <a:effectLst/>
                <a:latin typeface="Times New Roman" panose="02020603050405020304" pitchFamily="18" charset="0"/>
                <a:cs typeface="Times New Roman" panose="02020603050405020304" pitchFamily="18" charset="0"/>
              </a:rPr>
              <a:t> </a:t>
            </a:r>
            <a:r>
              <a:rPr b="0" dirty="0" sz="4200" i="0" lang="en-US">
                <a:effectLst/>
                <a:latin typeface="Times New Roman" panose="02020603050405020304" pitchFamily="18" charset="0"/>
                <a:cs typeface="Times New Roman" panose="02020603050405020304" pitchFamily="18" charset="0"/>
              </a:rPr>
              <a:t> working students at DLL. </a:t>
            </a:r>
            <a:endParaRPr altLang="en-US" lang="zh-CN"/>
          </a:p>
          <a:p>
            <a:pPr algn="l" indent="0" marL="0">
              <a:buNone/>
            </a:pPr>
            <a:endParaRPr b="0" dirty="0" sz="4200" i="0" lang="en-US">
              <a:effectLst/>
              <a:latin typeface="Times New Roman" panose="02020603050405020304" pitchFamily="18" charset="0"/>
              <a:cs typeface="Times New Roman" panose="02020603050405020304" pitchFamily="18" charset="0"/>
            </a:endParaRPr>
          </a:p>
          <a:p>
            <a:pPr algn="l"/>
            <a:r>
              <a:rPr b="0" dirty="0" sz="4200" i="0" lang="en-US" strike="noStrike" u="none">
                <a:solidFill>
                  <a:srgbClr val="000000"/>
                </a:solidFill>
                <a:effectLst/>
                <a:latin typeface="Times New Roman" panose="02020603050405020304" pitchFamily="18" charset="0"/>
              </a:rPr>
              <a:t> It aims to find out how they manage stress with the use of effective coping strategies to maintain psychological well-being. </a:t>
            </a:r>
          </a:p>
          <a:p>
            <a:pPr algn="l"/>
            <a:endParaRPr dirty="0" sz="4200" lang="en-US">
              <a:solidFill>
                <a:srgbClr val="000000"/>
              </a:solidFill>
              <a:latin typeface="Times New Roman" panose="02020603050405020304" pitchFamily="18" charset="0"/>
            </a:endParaRPr>
          </a:p>
          <a:p>
            <a:pPr algn="l"/>
            <a:r>
              <a:rPr b="0" dirty="0" sz="4200" i="0" lang="en-US" strike="noStrike" u="none">
                <a:solidFill>
                  <a:srgbClr val="000000"/>
                </a:solidFill>
                <a:effectLst/>
                <a:latin typeface="Times New Roman" panose="02020603050405020304" pitchFamily="18" charset="0"/>
              </a:rPr>
              <a:t>The research will look into the challenges they encounter and the different ways they cope with stress, such as time management, emotional support, and personal relaxation methods.</a:t>
            </a:r>
            <a:endParaRPr b="0" dirty="0" sz="4200" lang="en-US">
              <a:effectLst/>
            </a:endParaRPr>
          </a:p>
          <a:p>
            <a:pPr indent="0" marL="0">
              <a:buNone/>
            </a:pPr>
            <a:endParaRPr dirty="0" sz="6500" lang="en-PH">
              <a:latin typeface="Times New Roman" panose="02020603050405020304" pitchFamily="18" charset="0"/>
              <a:cs typeface="Times New Roman" panose="02020603050405020304" pitchFamily="18" charset="0"/>
            </a:endParaRPr>
          </a:p>
        </p:txBody>
      </p:sp>
      <p:sp>
        <p:nvSpPr>
          <p:cNvPr id="1048599" name="Content Placeholder 3"/>
          <p:cNvSpPr txBox="1"/>
          <p:nvPr/>
        </p:nvSpPr>
        <p:spPr>
          <a:xfrm>
            <a:off x="6356971" y="1088465"/>
            <a:ext cx="5350564" cy="5393289"/>
          </a:xfrm>
          <a:prstGeom prst="rect"/>
        </p:spPr>
        <p:txBody>
          <a:bodyPr bIns="45720" lIns="91440" rIns="91440" rtlCol="0" tIns="45720" vert="horz">
            <a:normAutofit fontScale="88571" lnSpcReduction="20000"/>
          </a:bodyPr>
          <a:lst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indent="0">
              <a:spcBef>
                <a:spcPts val="1200"/>
              </a:spcBef>
              <a:spcAft>
                <a:spcPts val="1200"/>
              </a:spcAft>
              <a:buNone/>
            </a:pPr>
            <a:r>
              <a:rPr b="1" dirty="0" lang="en-US">
                <a:latin typeface="Times New Roman" panose="02020603050405020304" pitchFamily="18" charset="0"/>
                <a:cs typeface="Times New Roman" panose="02020603050405020304" pitchFamily="18" charset="0"/>
              </a:rPr>
              <a:t>LIMITATION</a:t>
            </a:r>
          </a:p>
          <a:p>
            <a:pPr algn="l" indent="-457200" marL="685800">
              <a:spcBef>
                <a:spcPts val="1200"/>
              </a:spcBef>
              <a:spcAft>
                <a:spcPts val="1200"/>
              </a:spcAft>
            </a:pPr>
            <a:r>
              <a:rPr dirty="0" lang="en-US">
                <a:latin typeface="Times New Roman" panose="02020603050405020304" pitchFamily="18" charset="0"/>
                <a:cs typeface="Times New Roman" panose="02020603050405020304" pitchFamily="18" charset="0"/>
              </a:rPr>
              <a:t>It is limited to 1st–3rd year working students and examines challenges related to academics and part-time work only. Data were collected through surveys and interviews</a:t>
            </a:r>
          </a:p>
          <a:p>
            <a:pPr algn="l" indent="-457200" marL="685800">
              <a:spcBef>
                <a:spcPts val="1200"/>
              </a:spcBef>
              <a:spcAft>
                <a:spcPts val="1200"/>
              </a:spcAft>
            </a:pPr>
            <a:r>
              <a:rPr b="0" dirty="0" i="0" lang="en-US" strike="noStrike" u="none">
                <a:solidFill>
                  <a:srgbClr val="000000"/>
                </a:solidFill>
                <a:effectLst/>
                <a:latin typeface="Times New Roman" panose="02020603050405020304" pitchFamily="18" charset="0"/>
              </a:rPr>
              <a:t> It will focus mainly on challenges they face and what coping strategies they used to maintain their psychological well-being that are related to academics and part-time work and the researchers will not include other factors such as family problems, relationships</a:t>
            </a:r>
            <a:r>
              <a:rPr b="0" dirty="0" i="0" lang="en-US" strike="noStrike" u="none">
                <a:solidFill>
                  <a:srgbClr val="000000"/>
                </a:solidFill>
                <a:effectLst/>
                <a:latin typeface="Times New Roman" panose="02020603050405020304" pitchFamily="18" charset="0"/>
              </a:rPr>
              <a:t> </a:t>
            </a:r>
            <a:r>
              <a:rPr b="0" dirty="0" i="0" lang="en-US" strike="noStrike" u="none">
                <a:solidFill>
                  <a:srgbClr val="000000"/>
                </a:solidFill>
                <a:effectLst/>
                <a:latin typeface="Times New Roman" panose="02020603050405020304" pitchFamily="18" charset="0"/>
              </a:rPr>
              <a:t>p</a:t>
            </a:r>
            <a:r>
              <a:rPr b="0" dirty="0" i="0" lang="en-US" strike="noStrike" u="none">
                <a:solidFill>
                  <a:srgbClr val="000000"/>
                </a:solidFill>
                <a:effectLst/>
                <a:latin typeface="Times New Roman" panose="02020603050405020304" pitchFamily="18" charset="0"/>
              </a:rPr>
              <a:t>r</a:t>
            </a:r>
            <a:r>
              <a:rPr b="0" dirty="0" i="0" lang="en-US" strike="noStrike" u="none">
                <a:solidFill>
                  <a:srgbClr val="000000"/>
                </a:solidFill>
                <a:effectLst/>
                <a:latin typeface="Times New Roman" panose="02020603050405020304" pitchFamily="18" charset="0"/>
              </a:rPr>
              <a:t>o</a:t>
            </a:r>
            <a:r>
              <a:rPr b="0" dirty="0" i="0" lang="en-US" strike="noStrike" u="none">
                <a:solidFill>
                  <a:srgbClr val="000000"/>
                </a:solidFill>
                <a:effectLst/>
                <a:latin typeface="Times New Roman" panose="02020603050405020304" pitchFamily="18" charset="0"/>
              </a:rPr>
              <a:t>b</a:t>
            </a:r>
            <a:r>
              <a:rPr b="0" dirty="0" i="0" lang="en-US" strike="noStrike" u="none">
                <a:solidFill>
                  <a:srgbClr val="000000"/>
                </a:solidFill>
                <a:effectLst/>
                <a:latin typeface="Times New Roman" panose="02020603050405020304" pitchFamily="18" charset="0"/>
              </a:rPr>
              <a:t>l</a:t>
            </a:r>
            <a:r>
              <a:rPr b="0" dirty="0" i="0" lang="en-US" strike="noStrike" u="none">
                <a:solidFill>
                  <a:srgbClr val="000000"/>
                </a:solidFill>
                <a:effectLst/>
                <a:latin typeface="Times New Roman" panose="02020603050405020304" pitchFamily="18" charset="0"/>
              </a:rPr>
              <a:t>em</a:t>
            </a:r>
            <a:r>
              <a:rPr b="0" dirty="0" i="0" lang="en-US" strike="noStrike" u="none">
                <a:solidFill>
                  <a:srgbClr val="000000"/>
                </a:solidFill>
                <a:effectLst/>
                <a:latin typeface="Times New Roman" panose="02020603050405020304" pitchFamily="18" charset="0"/>
              </a:rPr>
              <a:t>, or health </a:t>
            </a:r>
            <a:r>
              <a:rPr b="0" dirty="0" sz="3100" i="0" lang="en-US" strike="noStrike" u="none">
                <a:solidFill>
                  <a:srgbClr val="000000"/>
                </a:solidFill>
                <a:effectLst/>
                <a:latin typeface="Times New Roman" panose="02020603050405020304" pitchFamily="18" charset="0"/>
              </a:rPr>
              <a:t>conditions. </a:t>
            </a:r>
            <a:endParaRPr dirty="0" sz="3100" lang="en-PH">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00" name="Title 1"/>
          <p:cNvSpPr>
            <a:spLocks noGrp="1"/>
          </p:cNvSpPr>
          <p:nvPr>
            <p:ph type="title"/>
          </p:nvPr>
        </p:nvSpPr>
        <p:spPr>
          <a:xfrm>
            <a:off x="838199" y="116526"/>
            <a:ext cx="10515600" cy="1325563"/>
          </a:xfrm>
        </p:spPr>
        <p:txBody>
          <a:bodyPr/>
          <a:p>
            <a:pPr algn="ctr"/>
            <a:r>
              <a:rPr b="1" dirty="0" lang="en-PH">
                <a:latin typeface="Times New Roman" panose="02020603050405020304" pitchFamily="18" charset="0"/>
                <a:cs typeface="Times New Roman" panose="02020603050405020304" pitchFamily="18" charset="0"/>
              </a:rPr>
              <a:t>CHAPTER 3 –</a:t>
            </a:r>
            <a:r>
              <a:rPr b="1" dirty="0" lang="en-US">
                <a:latin typeface="Times New Roman" panose="02020603050405020304" pitchFamily="18" charset="0"/>
                <a:cs typeface="Times New Roman" panose="02020603050405020304" pitchFamily="18" charset="0"/>
              </a:rPr>
              <a:t> </a:t>
            </a:r>
            <a:r>
              <a:rPr b="1" dirty="0" lang="en-US">
                <a:latin typeface="Times New Roman" panose="02020603050405020304" pitchFamily="18" charset="0"/>
                <a:cs typeface="Times New Roman" panose="02020603050405020304" pitchFamily="18" charset="0"/>
              </a:rPr>
              <a:t>M</a:t>
            </a:r>
            <a:r>
              <a:rPr b="1" dirty="0" lang="en-US">
                <a:latin typeface="Times New Roman" panose="02020603050405020304" pitchFamily="18" charset="0"/>
                <a:cs typeface="Times New Roman" panose="02020603050405020304" pitchFamily="18" charset="0"/>
              </a:rPr>
              <a:t>e</a:t>
            </a:r>
            <a:r>
              <a:rPr b="1" dirty="0" lang="en-US">
                <a:latin typeface="Times New Roman" panose="02020603050405020304" pitchFamily="18" charset="0"/>
                <a:cs typeface="Times New Roman" panose="02020603050405020304" pitchFamily="18" charset="0"/>
              </a:rPr>
              <a:t>t</a:t>
            </a:r>
            <a:r>
              <a:rPr b="1" dirty="0" lang="en-US">
                <a:latin typeface="Times New Roman" panose="02020603050405020304" pitchFamily="18" charset="0"/>
                <a:cs typeface="Times New Roman" panose="02020603050405020304" pitchFamily="18" charset="0"/>
              </a:rPr>
              <a:t>h</a:t>
            </a:r>
            <a:r>
              <a:rPr b="1" dirty="0" lang="en-US">
                <a:latin typeface="Times New Roman" panose="02020603050405020304" pitchFamily="18" charset="0"/>
                <a:cs typeface="Times New Roman" panose="02020603050405020304" pitchFamily="18" charset="0"/>
              </a:rPr>
              <a:t>o</a:t>
            </a:r>
            <a:r>
              <a:rPr b="1" dirty="0" lang="en-US">
                <a:latin typeface="Times New Roman" panose="02020603050405020304" pitchFamily="18" charset="0"/>
                <a:cs typeface="Times New Roman" panose="02020603050405020304" pitchFamily="18" charset="0"/>
              </a:rPr>
              <a:t>d</a:t>
            </a:r>
            <a:r>
              <a:rPr b="1" dirty="0" lang="en-US">
                <a:latin typeface="Times New Roman" panose="02020603050405020304" pitchFamily="18" charset="0"/>
                <a:cs typeface="Times New Roman" panose="02020603050405020304" pitchFamily="18" charset="0"/>
              </a:rPr>
              <a:t>o</a:t>
            </a:r>
            <a:r>
              <a:rPr b="1" dirty="0" lang="en-US">
                <a:latin typeface="Times New Roman" panose="02020603050405020304" pitchFamily="18" charset="0"/>
                <a:cs typeface="Times New Roman" panose="02020603050405020304" pitchFamily="18" charset="0"/>
              </a:rPr>
              <a:t>l</a:t>
            </a:r>
            <a:r>
              <a:rPr b="1" dirty="0" lang="en-US">
                <a:latin typeface="Times New Roman" panose="02020603050405020304" pitchFamily="18" charset="0"/>
                <a:cs typeface="Times New Roman" panose="02020603050405020304" pitchFamily="18" charset="0"/>
              </a:rPr>
              <a:t>ogy </a:t>
            </a:r>
            <a:endParaRPr b="1" dirty="0" lang="en-PH">
              <a:latin typeface="Times New Roman" panose="02020603050405020304" pitchFamily="18" charset="0"/>
              <a:cs typeface="Times New Roman" panose="02020603050405020304" pitchFamily="18" charset="0"/>
            </a:endParaRPr>
          </a:p>
        </p:txBody>
      </p:sp>
      <p:sp>
        <p:nvSpPr>
          <p:cNvPr id="1048601" name="Content Placeholder 3"/>
          <p:cNvSpPr>
            <a:spLocks noGrp="1"/>
          </p:cNvSpPr>
          <p:nvPr>
            <p:ph idx="1"/>
          </p:nvPr>
        </p:nvSpPr>
        <p:spPr>
          <a:xfrm>
            <a:off x="672222" y="1469604"/>
            <a:ext cx="4361742" cy="1959395"/>
          </a:xfrm>
        </p:spPr>
        <p:txBody>
          <a:bodyPr anchor="ctr">
            <a:normAutofit fontScale="48929" lnSpcReduction="20000"/>
          </a:bodyPr>
          <a:p>
            <a:pPr algn="ctr"/>
            <a:endParaRPr dirty="0" lang="en-PH"/>
          </a:p>
          <a:p>
            <a:pPr algn="l" indent="0" marL="0">
              <a:lnSpc>
                <a:spcPct val="120000"/>
              </a:lnSpc>
              <a:buNone/>
            </a:pPr>
            <a:r>
              <a:rPr b="0" dirty="0" sz="4600" i="0" lang="en-US">
                <a:effectLst/>
                <a:latin typeface="Times New Roman" panose="02020603050405020304" pitchFamily="18" charset="0"/>
                <a:cs typeface="Times New Roman" panose="02020603050405020304" pitchFamily="18" charset="0"/>
              </a:rPr>
              <a:t> </a:t>
            </a:r>
            <a:r>
              <a:rPr b="1" dirty="0" sz="6428" i="0" lang="en-US">
                <a:effectLst/>
                <a:latin typeface="Times New Roman" panose="02020603050405020304" pitchFamily="18" charset="0"/>
                <a:cs typeface="Times New Roman" panose="02020603050405020304" pitchFamily="18" charset="0"/>
              </a:rPr>
              <a:t>Research Design</a:t>
            </a:r>
            <a:endParaRPr b="1" dirty="0" sz="6428" lang="en-PH">
              <a:latin typeface="Times New Roman" panose="02020603050405020304" pitchFamily="18" charset="0"/>
              <a:cs typeface="Times New Roman" panose="02020603050405020304" pitchFamily="18" charset="0"/>
            </a:endParaRPr>
          </a:p>
          <a:p>
            <a:pPr algn="l">
              <a:lnSpc>
                <a:spcPct val="120000"/>
              </a:lnSpc>
              <a:buFont typeface="Wingdings" charset="2"/>
              <a:buChar char="n"/>
            </a:pPr>
            <a:r>
              <a:rPr b="0" dirty="0" sz="4600" i="0" lang="en-US">
                <a:effectLst/>
                <a:latin typeface="Times New Roman" panose="02020603050405020304" pitchFamily="18" charset="0"/>
                <a:cs typeface="Times New Roman" panose="02020603050405020304" pitchFamily="18" charset="0"/>
              </a:rPr>
              <a:t> </a:t>
            </a:r>
            <a:r>
              <a:rPr b="0" dirty="0" sz="4600" i="0" lang="en-US">
                <a:effectLst/>
                <a:latin typeface="Times New Roman" panose="02020603050405020304" pitchFamily="18" charset="0"/>
                <a:cs typeface="Times New Roman" panose="02020603050405020304" pitchFamily="18" charset="0"/>
              </a:rPr>
              <a:t> </a:t>
            </a:r>
            <a:r>
              <a:rPr b="0" dirty="0" sz="4600" i="0" lang="en-US">
                <a:effectLst/>
                <a:latin typeface="Times New Roman" panose="02020603050405020304" pitchFamily="18" charset="0"/>
                <a:cs typeface="Times New Roman" panose="02020603050405020304" pitchFamily="18" charset="0"/>
              </a:rPr>
              <a:t>This study uses a </a:t>
            </a:r>
            <a:r>
              <a:rPr b="1" dirty="0" sz="4600" i="0" lang="en-US">
                <a:effectLst/>
                <a:latin typeface="Times New Roman" panose="02020603050405020304" pitchFamily="18" charset="0"/>
                <a:cs typeface="Times New Roman" panose="02020603050405020304" pitchFamily="18" charset="0"/>
              </a:rPr>
              <a:t>Convergent Parallel Mixed-Method Design</a:t>
            </a:r>
            <a:r>
              <a:rPr b="1" dirty="0" sz="4600" i="0" lang="en-US">
                <a:effectLst/>
                <a:latin typeface="Times New Roman" panose="02020603050405020304" pitchFamily="18" charset="0"/>
                <a:cs typeface="Times New Roman" panose="02020603050405020304" pitchFamily="18" charset="0"/>
              </a:rPr>
              <a:t>.</a:t>
            </a:r>
            <a:r>
              <a:rPr b="1" dirty="0" sz="4600" i="0" lang="en-US">
                <a:effectLst/>
                <a:latin typeface="Times New Roman" panose="02020603050405020304" pitchFamily="18" charset="0"/>
                <a:cs typeface="Times New Roman" panose="02020603050405020304" pitchFamily="18" charset="0"/>
              </a:rPr>
              <a:t> </a:t>
            </a:r>
            <a:endParaRPr b="1" dirty="0" sz="4600" lang="en-PH">
              <a:latin typeface="Times New Roman" panose="02020603050405020304" pitchFamily="18" charset="0"/>
              <a:cs typeface="Times New Roman" panose="02020603050405020304" pitchFamily="18" charset="0"/>
            </a:endParaRPr>
          </a:p>
        </p:txBody>
      </p:sp>
      <p:sp>
        <p:nvSpPr>
          <p:cNvPr id="1048602" name="Content Placeholder 3"/>
          <p:cNvSpPr>
            <a:spLocks noGrp="1"/>
          </p:cNvSpPr>
          <p:nvPr/>
        </p:nvSpPr>
        <p:spPr>
          <a:xfrm>
            <a:off x="557515" y="3776250"/>
            <a:ext cx="4197391" cy="2015993"/>
          </a:xfrm>
          <a:prstGeom prst="rect"/>
        </p:spPr>
        <p:txBody>
          <a:bodyPr anchor="ctr" bIns="45720" lIns="91440" rIns="91440" rtlCol="0" tIns="45720" vert="horz">
            <a:normAutofit fontScale="48928" lnSpcReduction="20000"/>
          </a:bodyPr>
          <a:lst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rgbClr val="000000"/>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rgbClr val="000000"/>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rgbClr val="000000"/>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rgbClr val="000000"/>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rgbClr val="000000"/>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rgbClr val="000000"/>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rgbClr val="000000"/>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rgbClr val="000000"/>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rgbClr val="000000"/>
                </a:solidFill>
                <a:latin typeface="+mn-lt"/>
                <a:ea typeface="+mn-ea"/>
                <a:cs typeface="+mn-cs"/>
              </a:defRPr>
            </a:lvl9pPr>
          </a:lstStyle>
          <a:p>
            <a:pPr algn="ctr"/>
            <a:endParaRPr dirty="0" lang="en-PH"/>
          </a:p>
          <a:p>
            <a:pPr algn="l" indent="0" marL="0">
              <a:lnSpc>
                <a:spcPct val="120000"/>
              </a:lnSpc>
              <a:buNone/>
            </a:pPr>
            <a:r>
              <a:rPr b="0" dirty="0" sz="4600" i="0" lang="en-US">
                <a:effectLst/>
                <a:latin typeface="Times New Roman" panose="02020603050405020304" pitchFamily="18" charset="0"/>
                <a:cs typeface="Times New Roman" panose="02020603050405020304" pitchFamily="18" charset="0"/>
              </a:rPr>
              <a:t> </a:t>
            </a:r>
            <a:r>
              <a:rPr b="1" dirty="0" sz="6428" i="0" lang="en-US">
                <a:effectLst/>
                <a:latin typeface="Times New Roman" panose="02020603050405020304" pitchFamily="18" charset="0"/>
                <a:cs typeface="Times New Roman" panose="02020603050405020304" pitchFamily="18" charset="0"/>
              </a:rPr>
              <a:t>Research </a:t>
            </a:r>
            <a:r>
              <a:rPr b="1" dirty="0" sz="6428" i="0" lang="en-US">
                <a:effectLst/>
                <a:latin typeface="Times New Roman" panose="02020603050405020304" pitchFamily="18" charset="0"/>
                <a:cs typeface="Times New Roman" panose="02020603050405020304" pitchFamily="18" charset="0"/>
              </a:rPr>
              <a:t>L</a:t>
            </a:r>
            <a:r>
              <a:rPr b="1" dirty="0" sz="6428" i="0" lang="en-US">
                <a:effectLst/>
                <a:latin typeface="Times New Roman" panose="02020603050405020304" pitchFamily="18" charset="0"/>
                <a:cs typeface="Times New Roman" panose="02020603050405020304" pitchFamily="18" charset="0"/>
              </a:rPr>
              <a:t>o</a:t>
            </a:r>
            <a:r>
              <a:rPr b="1" dirty="0" sz="6428" i="0" lang="en-US">
                <a:effectLst/>
                <a:latin typeface="Times New Roman" panose="02020603050405020304" pitchFamily="18" charset="0"/>
                <a:cs typeface="Times New Roman" panose="02020603050405020304" pitchFamily="18" charset="0"/>
              </a:rPr>
              <a:t>c</a:t>
            </a:r>
            <a:r>
              <a:rPr b="1" dirty="0" sz="6428" i="0" lang="en-US">
                <a:effectLst/>
                <a:latin typeface="Times New Roman" panose="02020603050405020304" pitchFamily="18" charset="0"/>
                <a:cs typeface="Times New Roman" panose="02020603050405020304" pitchFamily="18" charset="0"/>
              </a:rPr>
              <a:t>a</a:t>
            </a:r>
            <a:r>
              <a:rPr b="1" dirty="0" sz="6428" i="0" lang="en-US">
                <a:effectLst/>
                <a:latin typeface="Times New Roman" panose="02020603050405020304" pitchFamily="18" charset="0"/>
                <a:cs typeface="Times New Roman" panose="02020603050405020304" pitchFamily="18" charset="0"/>
              </a:rPr>
              <a:t>l</a:t>
            </a:r>
            <a:r>
              <a:rPr b="1" dirty="0" sz="6428" i="0" lang="en-US">
                <a:effectLst/>
                <a:latin typeface="Times New Roman" panose="02020603050405020304" pitchFamily="18" charset="0"/>
                <a:cs typeface="Times New Roman" panose="02020603050405020304" pitchFamily="18" charset="0"/>
              </a:rPr>
              <a:t>e</a:t>
            </a:r>
            <a:endParaRPr b="1" dirty="0" sz="6428" lang="en-PH">
              <a:latin typeface="Times New Roman" panose="02020603050405020304" pitchFamily="18" charset="0"/>
              <a:cs typeface="Times New Roman" panose="02020603050405020304" pitchFamily="18" charset="0"/>
            </a:endParaRPr>
          </a:p>
          <a:p>
            <a:pPr algn="l">
              <a:lnSpc>
                <a:spcPct val="120000"/>
              </a:lnSpc>
              <a:buFont typeface="Wingdings" charset="2"/>
              <a:buChar char="n"/>
            </a:pPr>
            <a:r>
              <a:rPr b="0" dirty="0" sz="4600" i="0" lang="en-US">
                <a:effectLst/>
                <a:latin typeface="Times New Roman" panose="02020603050405020304" pitchFamily="18" charset="0"/>
                <a:cs typeface="Times New Roman" panose="02020603050405020304" pitchFamily="18" charset="0"/>
              </a:rPr>
              <a:t> </a:t>
            </a:r>
            <a:r>
              <a:rPr b="0" dirty="0" sz="4600" i="0" lang="en-US">
                <a:effectLst/>
                <a:latin typeface="Times New Roman" panose="02020603050405020304" pitchFamily="18" charset="0"/>
                <a:cs typeface="Times New Roman" panose="02020603050405020304" pitchFamily="18" charset="0"/>
              </a:rPr>
              <a:t> </a:t>
            </a:r>
            <a:r>
              <a:rPr b="0" dirty="0" sz="4600" i="0" lang="en-US">
                <a:effectLst/>
                <a:latin typeface="Times New Roman" panose="02020603050405020304" pitchFamily="18" charset="0"/>
                <a:cs typeface="Times New Roman" panose="02020603050405020304" pitchFamily="18" charset="0"/>
              </a:rPr>
              <a:t>This stu</a:t>
            </a:r>
            <a:r>
              <a:rPr b="0" dirty="0" sz="4600" i="0" lang="en-US">
                <a:effectLst/>
                <a:latin typeface="Times New Roman" panose="02020603050405020304" pitchFamily="18" charset="0"/>
                <a:cs typeface="Times New Roman" panose="02020603050405020304" pitchFamily="18" charset="0"/>
              </a:rPr>
              <a:t>d</a:t>
            </a:r>
            <a:r>
              <a:rPr b="0" dirty="0" sz="4600" i="0" lang="en-US">
                <a:effectLst/>
                <a:latin typeface="Times New Roman" panose="02020603050405020304" pitchFamily="18" charset="0"/>
                <a:cs typeface="Times New Roman" panose="02020603050405020304" pitchFamily="18" charset="0"/>
              </a:rPr>
              <a:t>y</a:t>
            </a:r>
            <a:r>
              <a:rPr b="0" dirty="0" sz="4600" i="0" lang="en-US">
                <a:effectLst/>
                <a:latin typeface="Times New Roman" panose="02020603050405020304" pitchFamily="18" charset="0"/>
                <a:cs typeface="Times New Roman" panose="02020603050405020304" pitchFamily="18" charset="0"/>
              </a:rPr>
              <a:t> </a:t>
            </a:r>
            <a:r>
              <a:rPr b="0" dirty="0" sz="4600" i="0" lang="en-US">
                <a:effectLst/>
                <a:latin typeface="Times New Roman" panose="02020603050405020304" pitchFamily="18" charset="0"/>
                <a:cs typeface="Times New Roman" panose="02020603050405020304" pitchFamily="18" charset="0"/>
              </a:rPr>
              <a:t>w</a:t>
            </a:r>
            <a:r>
              <a:rPr b="0" dirty="0" sz="4600" i="0" lang="en-US">
                <a:effectLst/>
                <a:latin typeface="Times New Roman" panose="02020603050405020304" pitchFamily="18" charset="0"/>
                <a:cs typeface="Times New Roman" panose="02020603050405020304" pitchFamily="18" charset="0"/>
              </a:rPr>
              <a:t>a</a:t>
            </a:r>
            <a:r>
              <a:rPr b="0" dirty="0" sz="4600" i="0" lang="en-US">
                <a:effectLst/>
                <a:latin typeface="Times New Roman" panose="02020603050405020304" pitchFamily="18" charset="0"/>
                <a:cs typeface="Times New Roman" panose="02020603050405020304" pitchFamily="18" charset="0"/>
              </a:rPr>
              <a:t>s</a:t>
            </a:r>
            <a:r>
              <a:rPr b="0" dirty="0" sz="4600" i="0" lang="en-US">
                <a:effectLst/>
                <a:latin typeface="Times New Roman" panose="02020603050405020304" pitchFamily="18" charset="0"/>
                <a:cs typeface="Times New Roman" panose="02020603050405020304" pitchFamily="18" charset="0"/>
              </a:rPr>
              <a:t> </a:t>
            </a:r>
            <a:r>
              <a:rPr b="0" dirty="0" sz="4600" i="0" lang="en-US">
                <a:effectLst/>
                <a:latin typeface="Times New Roman" panose="02020603050405020304" pitchFamily="18" charset="0"/>
                <a:cs typeface="Times New Roman" panose="02020603050405020304" pitchFamily="18" charset="0"/>
              </a:rPr>
              <a:t>c</a:t>
            </a:r>
            <a:r>
              <a:rPr b="0" dirty="0" sz="4600" i="0" lang="en-US">
                <a:effectLst/>
                <a:latin typeface="Times New Roman" panose="02020603050405020304" pitchFamily="18" charset="0"/>
                <a:cs typeface="Times New Roman" panose="02020603050405020304" pitchFamily="18" charset="0"/>
              </a:rPr>
              <a:t>o</a:t>
            </a:r>
            <a:r>
              <a:rPr b="0" dirty="0" sz="4600" i="0" lang="en-US">
                <a:effectLst/>
                <a:latin typeface="Times New Roman" panose="02020603050405020304" pitchFamily="18" charset="0"/>
                <a:cs typeface="Times New Roman" panose="02020603050405020304" pitchFamily="18" charset="0"/>
              </a:rPr>
              <a:t>n</a:t>
            </a:r>
            <a:r>
              <a:rPr b="0" dirty="0" sz="4600" i="0" lang="en-US">
                <a:effectLst/>
                <a:latin typeface="Times New Roman" panose="02020603050405020304" pitchFamily="18" charset="0"/>
                <a:cs typeface="Times New Roman" panose="02020603050405020304" pitchFamily="18" charset="0"/>
              </a:rPr>
              <a:t>d</a:t>
            </a:r>
            <a:r>
              <a:rPr b="0" dirty="0" sz="4600" i="0" lang="en-US">
                <a:effectLst/>
                <a:latin typeface="Times New Roman" panose="02020603050405020304" pitchFamily="18" charset="0"/>
                <a:cs typeface="Times New Roman" panose="02020603050405020304" pitchFamily="18" charset="0"/>
              </a:rPr>
              <a:t>u</a:t>
            </a:r>
            <a:r>
              <a:rPr b="0" dirty="0" sz="4600" i="0" lang="en-US">
                <a:effectLst/>
                <a:latin typeface="Times New Roman" panose="02020603050405020304" pitchFamily="18" charset="0"/>
                <a:cs typeface="Times New Roman" panose="02020603050405020304" pitchFamily="18" charset="0"/>
              </a:rPr>
              <a:t>cted </a:t>
            </a:r>
            <a:r>
              <a:rPr b="0" dirty="0" sz="4600" i="0" lang="en-US">
                <a:effectLst/>
                <a:latin typeface="Times New Roman" panose="02020603050405020304" pitchFamily="18" charset="0"/>
                <a:cs typeface="Times New Roman" panose="02020603050405020304" pitchFamily="18" charset="0"/>
              </a:rPr>
              <a:t> </a:t>
            </a:r>
            <a:r>
              <a:rPr b="0" dirty="0" sz="4600" i="0" lang="en-US">
                <a:effectLst/>
                <a:latin typeface="Times New Roman" panose="02020603050405020304" pitchFamily="18" charset="0"/>
                <a:cs typeface="Times New Roman" panose="02020603050405020304" pitchFamily="18" charset="0"/>
              </a:rPr>
              <a:t>i</a:t>
            </a:r>
            <a:r>
              <a:rPr b="0" dirty="0" sz="4600" i="0" lang="en-US">
                <a:effectLst/>
                <a:latin typeface="Times New Roman" panose="02020603050405020304" pitchFamily="18" charset="0"/>
                <a:cs typeface="Times New Roman" panose="02020603050405020304" pitchFamily="18" charset="0"/>
              </a:rPr>
              <a:t>n</a:t>
            </a:r>
            <a:r>
              <a:rPr b="0" dirty="0" sz="4600" i="0" lang="en-US">
                <a:effectLst/>
                <a:latin typeface="Times New Roman" panose="02020603050405020304" pitchFamily="18" charset="0"/>
                <a:cs typeface="Times New Roman" panose="02020603050405020304" pitchFamily="18" charset="0"/>
              </a:rPr>
              <a:t> </a:t>
            </a:r>
            <a:r>
              <a:rPr b="1" dirty="0" sz="4600" i="0" lang="en-US">
                <a:effectLst/>
                <a:latin typeface="Times New Roman" panose="02020603050405020304" pitchFamily="18" charset="0"/>
                <a:cs typeface="Times New Roman" panose="02020603050405020304" pitchFamily="18" charset="0"/>
              </a:rPr>
              <a:t>Dalubhasaan </a:t>
            </a:r>
            <a:r>
              <a:rPr b="1" dirty="0" sz="4600" i="0" lang="en-US">
                <a:effectLst/>
                <a:latin typeface="Times New Roman" panose="02020603050405020304" pitchFamily="18" charset="0"/>
                <a:cs typeface="Times New Roman" panose="02020603050405020304" pitchFamily="18" charset="0"/>
              </a:rPr>
              <a:t>ng </a:t>
            </a:r>
            <a:r>
              <a:rPr b="1" dirty="0" sz="4600" i="0" lang="en-US">
                <a:effectLst/>
                <a:latin typeface="Times New Roman" panose="02020603050405020304" pitchFamily="18" charset="0"/>
                <a:cs typeface="Times New Roman" panose="02020603050405020304" pitchFamily="18" charset="0"/>
              </a:rPr>
              <a:t>Lungsod </a:t>
            </a:r>
            <a:r>
              <a:rPr b="1" dirty="0" sz="4600" i="0" lang="en-US">
                <a:effectLst/>
                <a:latin typeface="Times New Roman" panose="02020603050405020304" pitchFamily="18" charset="0"/>
                <a:cs typeface="Times New Roman" panose="02020603050405020304" pitchFamily="18" charset="0"/>
              </a:rPr>
              <a:t>ng </a:t>
            </a:r>
            <a:r>
              <a:rPr b="1" dirty="0" sz="4600" i="0" lang="en-US">
                <a:effectLst/>
                <a:latin typeface="Times New Roman" panose="02020603050405020304" pitchFamily="18" charset="0"/>
                <a:cs typeface="Times New Roman" panose="02020603050405020304" pitchFamily="18" charset="0"/>
              </a:rPr>
              <a:t>Lucena</a:t>
            </a:r>
            <a:r>
              <a:rPr b="1" dirty="0" sz="4600" i="0" lang="en-US">
                <a:effectLst/>
                <a:latin typeface="Times New Roman" panose="02020603050405020304" pitchFamily="18" charset="0"/>
                <a:cs typeface="Times New Roman" panose="02020603050405020304" pitchFamily="18" charset="0"/>
              </a:rPr>
              <a:t>.</a:t>
            </a:r>
            <a:r>
              <a:rPr b="1" dirty="0" sz="4600" i="0" lang="en-US">
                <a:effectLst/>
                <a:latin typeface="Times New Roman" panose="02020603050405020304" pitchFamily="18" charset="0"/>
                <a:cs typeface="Times New Roman" panose="02020603050405020304" pitchFamily="18" charset="0"/>
              </a:rPr>
              <a:t> </a:t>
            </a:r>
            <a:r>
              <a:rPr b="1" dirty="0" sz="4600" i="0" lang="en-US">
                <a:effectLst/>
                <a:latin typeface="Times New Roman" panose="02020603050405020304" pitchFamily="18" charset="0"/>
                <a:cs typeface="Times New Roman" panose="02020603050405020304" pitchFamily="18" charset="0"/>
              </a:rPr>
              <a:t> </a:t>
            </a:r>
            <a:endParaRPr b="1" dirty="0" sz="4600" lang="en-PH">
              <a:latin typeface="Times New Roman" panose="02020603050405020304" pitchFamily="18" charset="0"/>
              <a:cs typeface="Times New Roman" panose="02020603050405020304" pitchFamily="18" charset="0"/>
            </a:endParaRPr>
          </a:p>
        </p:txBody>
      </p:sp>
      <p:sp>
        <p:nvSpPr>
          <p:cNvPr id="1048603" name="Content Placeholder 3"/>
          <p:cNvSpPr>
            <a:spLocks noGrp="1"/>
          </p:cNvSpPr>
          <p:nvPr/>
        </p:nvSpPr>
        <p:spPr>
          <a:xfrm>
            <a:off x="4901761" y="1690687"/>
            <a:ext cx="7066405" cy="2200304"/>
          </a:xfrm>
          <a:prstGeom prst="rect"/>
        </p:spPr>
        <p:txBody>
          <a:bodyPr anchor="ctr" bIns="45720" lIns="91440" rIns="91440" rtlCol="0" tIns="45720" vert="horz">
            <a:normAutofit fontScale="40232" lnSpcReduction="20000"/>
          </a:bodyPr>
          <a:lst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rgbClr val="000000"/>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rgbClr val="000000"/>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rgbClr val="000000"/>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rgbClr val="000000"/>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rgbClr val="000000"/>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rgbClr val="000000"/>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rgbClr val="000000"/>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rgbClr val="000000"/>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rgbClr val="000000"/>
                </a:solidFill>
                <a:latin typeface="+mn-lt"/>
                <a:ea typeface="+mn-ea"/>
                <a:cs typeface="+mn-cs"/>
              </a:defRPr>
            </a:lvl9pPr>
          </a:lstStyle>
          <a:p>
            <a:pPr algn="ctr" indent="0" marL="0">
              <a:buNone/>
            </a:pPr>
            <a:r>
              <a:rPr b="1" dirty="0" sz="7777" lang="en-US">
                <a:latin typeface="Times New Roman" panose="02020603050405020304" pitchFamily="18" charset="0"/>
                <a:cs typeface="Times New Roman" panose="02020603050405020304" pitchFamily="18" charset="0"/>
              </a:rPr>
              <a:t>Population and Sampling</a:t>
            </a:r>
            <a:endParaRPr b="1" dirty="0" sz="7777" lang="en-PH">
              <a:latin typeface="Times New Roman" panose="02020603050405020304" pitchFamily="18" charset="0"/>
              <a:cs typeface="Times New Roman" panose="02020603050405020304" pitchFamily="18" charset="0"/>
            </a:endParaRPr>
          </a:p>
          <a:p>
            <a:pPr algn="l">
              <a:buFont typeface="Wingdings" charset="2"/>
              <a:buChar char="n"/>
            </a:pPr>
            <a:r>
              <a:rPr b="0" dirty="0" sz="4600" lang="en-US">
                <a:latin typeface="Times New Roman" panose="02020603050405020304" pitchFamily="18" charset="0"/>
                <a:cs typeface="Times New Roman" panose="02020603050405020304" pitchFamily="18" charset="0"/>
              </a:rPr>
              <a:t> </a:t>
            </a:r>
            <a:r>
              <a:rPr b="0" dirty="0" sz="4600" lang="en-US">
                <a:latin typeface="Times New Roman" panose="02020603050405020304" pitchFamily="18" charset="0"/>
                <a:cs typeface="Times New Roman" panose="02020603050405020304" pitchFamily="18" charset="0"/>
              </a:rPr>
              <a:t>The study used purposive sampling to select participants who met the criteria of being </a:t>
            </a:r>
            <a:r>
              <a:rPr b="0" dirty="0" sz="4600" lang="en-US">
                <a:latin typeface="Times New Roman" panose="02020603050405020304" pitchFamily="18" charset="0"/>
                <a:cs typeface="Times New Roman" panose="02020603050405020304" pitchFamily="18" charset="0"/>
              </a:rPr>
              <a:t>B</a:t>
            </a:r>
            <a:r>
              <a:rPr b="0" dirty="0" sz="4600" lang="en-US">
                <a:latin typeface="Times New Roman" panose="02020603050405020304" pitchFamily="18" charset="0"/>
                <a:cs typeface="Times New Roman" panose="02020603050405020304" pitchFamily="18" charset="0"/>
              </a:rPr>
              <a:t>S</a:t>
            </a:r>
            <a:r>
              <a:rPr b="0" dirty="0" sz="4600" lang="en-US">
                <a:latin typeface="Times New Roman" panose="02020603050405020304" pitchFamily="18" charset="0"/>
                <a:cs typeface="Times New Roman" panose="02020603050405020304" pitchFamily="18" charset="0"/>
              </a:rPr>
              <a:t>S</a:t>
            </a:r>
            <a:r>
              <a:rPr b="0" dirty="0" sz="4600" lang="en-US">
                <a:latin typeface="Times New Roman" panose="02020603050405020304" pitchFamily="18" charset="0"/>
                <a:cs typeface="Times New Roman" panose="02020603050405020304" pitchFamily="18" charset="0"/>
              </a:rPr>
              <a:t>W</a:t>
            </a:r>
            <a:r>
              <a:rPr b="0" dirty="0" sz="4600" lang="en-US">
                <a:latin typeface="Times New Roman" panose="02020603050405020304" pitchFamily="18" charset="0"/>
                <a:cs typeface="Times New Roman" panose="02020603050405020304" pitchFamily="18" charset="0"/>
              </a:rPr>
              <a:t> </a:t>
            </a:r>
            <a:r>
              <a:rPr b="0" dirty="0" sz="4600" lang="en-US">
                <a:latin typeface="Times New Roman" panose="02020603050405020304" pitchFamily="18" charset="0"/>
                <a:cs typeface="Times New Roman" panose="02020603050405020304" pitchFamily="18" charset="0"/>
              </a:rPr>
              <a:t>working students at DLL.</a:t>
            </a:r>
            <a:endParaRPr b="0" dirty="0" sz="4600" lang="en-PH">
              <a:latin typeface="Times New Roman" panose="02020603050405020304" pitchFamily="18" charset="0"/>
              <a:cs typeface="Times New Roman" panose="02020603050405020304" pitchFamily="18" charset="0"/>
            </a:endParaRPr>
          </a:p>
          <a:p>
            <a:pPr algn="l">
              <a:buFont typeface="Wingdings" charset="2"/>
              <a:buChar char="n"/>
            </a:pPr>
            <a:r>
              <a:rPr b="0" dirty="0" sz="4600" lang="en-US">
                <a:latin typeface="Times New Roman" panose="02020603050405020304" pitchFamily="18" charset="0"/>
                <a:cs typeface="Times New Roman" panose="02020603050405020304" pitchFamily="18" charset="0"/>
              </a:rPr>
              <a:t>The respondents included 40 working students from 1st to 3rd year, with 8 participants selected for in-depth interviews. </a:t>
            </a:r>
            <a:endParaRPr b="0" dirty="0" sz="4600" lang="en-PH">
              <a:latin typeface="Times New Roman" panose="02020603050405020304" pitchFamily="18" charset="0"/>
              <a:cs typeface="Times New Roman" panose="02020603050405020304" pitchFamily="18" charset="0"/>
            </a:endParaRPr>
          </a:p>
          <a:p>
            <a:pPr algn="l">
              <a:buFont typeface="Wingdings" charset="2"/>
              <a:buChar char="n"/>
            </a:pPr>
            <a:r>
              <a:rPr b="0" dirty="0" sz="4600" lang="en-US">
                <a:latin typeface="Times New Roman" panose="02020603050405020304" pitchFamily="18" charset="0"/>
                <a:cs typeface="Times New Roman" panose="02020603050405020304" pitchFamily="18" charset="0"/>
              </a:rPr>
              <a:t>Fourth-year students were excluded due to their Field Instruction requirements.</a:t>
            </a:r>
            <a:endParaRPr b="0" dirty="0" sz="4600" lang="en-PH">
              <a:latin typeface="Times New Roman" panose="02020603050405020304" pitchFamily="18" charset="0"/>
              <a:cs typeface="Times New Roman" panose="02020603050405020304" pitchFamily="18" charset="0"/>
            </a:endParaRPr>
          </a:p>
          <a:p>
            <a:pPr algn="l">
              <a:buFont typeface="Wingdings" charset="2"/>
              <a:buChar char="n"/>
            </a:pPr>
            <a:endParaRPr b="0" dirty="0" sz="4600" lang="en-PH">
              <a:latin typeface="Times New Roman" panose="02020603050405020304" pitchFamily="18" charset="0"/>
              <a:cs typeface="Times New Roman" panose="02020603050405020304" pitchFamily="18" charset="0"/>
            </a:endParaRPr>
          </a:p>
          <a:p>
            <a:pPr algn="ctr" indent="0" marL="0">
              <a:buNone/>
            </a:pPr>
            <a:endParaRPr b="1" dirty="0" sz="4600" lang="en-PH">
              <a:latin typeface="Times New Roman" panose="02020603050405020304" pitchFamily="18" charset="0"/>
              <a:cs typeface="Times New Roman" panose="02020603050405020304" pitchFamily="18" charset="0"/>
            </a:endParaRPr>
          </a:p>
        </p:txBody>
      </p:sp>
      <p:sp>
        <p:nvSpPr>
          <p:cNvPr id="1048604" name="Content Placeholder 3"/>
          <p:cNvSpPr>
            <a:spLocks noGrp="1"/>
          </p:cNvSpPr>
          <p:nvPr/>
        </p:nvSpPr>
        <p:spPr>
          <a:xfrm>
            <a:off x="4901759" y="4254328"/>
            <a:ext cx="7213260" cy="2171619"/>
          </a:xfrm>
          <a:prstGeom prst="rect"/>
        </p:spPr>
        <p:txBody>
          <a:bodyPr anchor="ctr" bIns="45720" lIns="91440" rIns="91440" rtlCol="0" tIns="45720" vert="horz">
            <a:normAutofit fontScale="46754" lnSpcReduction="20000"/>
          </a:bodyPr>
          <a:lst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rgbClr val="000000"/>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rgbClr val="000000"/>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rgbClr val="000000"/>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rgbClr val="000000"/>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rgbClr val="000000"/>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rgbClr val="000000"/>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rgbClr val="000000"/>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rgbClr val="000000"/>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rgbClr val="000000"/>
                </a:solidFill>
                <a:latin typeface="+mn-lt"/>
                <a:ea typeface="+mn-ea"/>
                <a:cs typeface="+mn-cs"/>
              </a:defRPr>
            </a:lvl9pPr>
          </a:lstStyle>
          <a:p>
            <a:pPr algn="ctr" indent="0" marL="0">
              <a:buNone/>
            </a:pPr>
            <a:r>
              <a:rPr b="1" dirty="0" sz="6792" lang="en-US">
                <a:latin typeface="Times New Roman" panose="02020603050405020304" pitchFamily="18" charset="0"/>
                <a:cs typeface="Times New Roman" panose="02020603050405020304" pitchFamily="18" charset="0"/>
              </a:rPr>
              <a:t>R</a:t>
            </a:r>
            <a:r>
              <a:rPr b="1" dirty="0" sz="6792" lang="en-US">
                <a:latin typeface="Times New Roman" panose="02020603050405020304" pitchFamily="18" charset="0"/>
                <a:cs typeface="Times New Roman" panose="02020603050405020304" pitchFamily="18" charset="0"/>
              </a:rPr>
              <a:t>e</a:t>
            </a:r>
            <a:r>
              <a:rPr b="1" dirty="0" sz="6792" lang="en-US">
                <a:latin typeface="Times New Roman" panose="02020603050405020304" pitchFamily="18" charset="0"/>
                <a:cs typeface="Times New Roman" panose="02020603050405020304" pitchFamily="18" charset="0"/>
              </a:rPr>
              <a:t>s</a:t>
            </a:r>
            <a:r>
              <a:rPr b="1" dirty="0" sz="6792" lang="en-US">
                <a:latin typeface="Times New Roman" panose="02020603050405020304" pitchFamily="18" charset="0"/>
                <a:cs typeface="Times New Roman" panose="02020603050405020304" pitchFamily="18" charset="0"/>
              </a:rPr>
              <a:t>e</a:t>
            </a:r>
            <a:r>
              <a:rPr b="1" dirty="0" sz="6792" lang="en-US">
                <a:latin typeface="Times New Roman" panose="02020603050405020304" pitchFamily="18" charset="0"/>
                <a:cs typeface="Times New Roman" panose="02020603050405020304" pitchFamily="18" charset="0"/>
              </a:rPr>
              <a:t>arch </a:t>
            </a:r>
            <a:r>
              <a:rPr b="1" dirty="0" sz="6792" lang="en-US">
                <a:latin typeface="Times New Roman" panose="02020603050405020304" pitchFamily="18" charset="0"/>
                <a:cs typeface="Times New Roman" panose="02020603050405020304" pitchFamily="18" charset="0"/>
              </a:rPr>
              <a:t>I</a:t>
            </a:r>
            <a:r>
              <a:rPr b="1" dirty="0" sz="6792" lang="en-US">
                <a:latin typeface="Times New Roman" panose="02020603050405020304" pitchFamily="18" charset="0"/>
                <a:cs typeface="Times New Roman" panose="02020603050405020304" pitchFamily="18" charset="0"/>
              </a:rPr>
              <a:t>n</a:t>
            </a:r>
            <a:r>
              <a:rPr b="1" dirty="0" sz="6792" lang="en-US">
                <a:latin typeface="Times New Roman" panose="02020603050405020304" pitchFamily="18" charset="0"/>
                <a:cs typeface="Times New Roman" panose="02020603050405020304" pitchFamily="18" charset="0"/>
              </a:rPr>
              <a:t>s</a:t>
            </a:r>
            <a:r>
              <a:rPr b="1" dirty="0" sz="6792" lang="en-US">
                <a:latin typeface="Times New Roman" panose="02020603050405020304" pitchFamily="18" charset="0"/>
                <a:cs typeface="Times New Roman" panose="02020603050405020304" pitchFamily="18" charset="0"/>
              </a:rPr>
              <a:t>t</a:t>
            </a:r>
            <a:r>
              <a:rPr b="1" dirty="0" sz="6792" lang="en-US">
                <a:latin typeface="Times New Roman" panose="02020603050405020304" pitchFamily="18" charset="0"/>
                <a:cs typeface="Times New Roman" panose="02020603050405020304" pitchFamily="18" charset="0"/>
              </a:rPr>
              <a:t>r</a:t>
            </a:r>
            <a:r>
              <a:rPr b="1" dirty="0" sz="6792" lang="en-US">
                <a:latin typeface="Times New Roman" panose="02020603050405020304" pitchFamily="18" charset="0"/>
                <a:cs typeface="Times New Roman" panose="02020603050405020304" pitchFamily="18" charset="0"/>
              </a:rPr>
              <a:t>ument</a:t>
            </a:r>
            <a:r>
              <a:rPr b="1" dirty="0" sz="7777" lang="en-US">
                <a:latin typeface="Times New Roman" panose="02020603050405020304" pitchFamily="18" charset="0"/>
                <a:cs typeface="Times New Roman" panose="02020603050405020304" pitchFamily="18" charset="0"/>
              </a:rPr>
              <a:t> </a:t>
            </a:r>
            <a:endParaRPr b="1" dirty="0" sz="7777" lang="en-PH">
              <a:latin typeface="Times New Roman" panose="02020603050405020304" pitchFamily="18" charset="0"/>
              <a:cs typeface="Times New Roman" panose="02020603050405020304" pitchFamily="18" charset="0"/>
            </a:endParaRPr>
          </a:p>
          <a:p>
            <a:pPr algn="l">
              <a:buFont typeface="Wingdings" charset="2"/>
              <a:buChar char="n"/>
            </a:pPr>
            <a:r>
              <a:rPr b="0" dirty="0" sz="4600" lang="en-US">
                <a:latin typeface="Times New Roman" panose="02020603050405020304" pitchFamily="18" charset="0"/>
                <a:cs typeface="Times New Roman" panose="02020603050405020304" pitchFamily="18" charset="0"/>
              </a:rPr>
              <a:t> </a:t>
            </a:r>
            <a:r>
              <a:rPr b="0" dirty="0" sz="4600" i="0" lang="en-US">
                <a:effectLst/>
                <a:latin typeface="Times New Roman" panose="02020603050405020304" pitchFamily="18" charset="0"/>
                <a:cs typeface="Times New Roman" panose="02020603050405020304" pitchFamily="18" charset="0"/>
              </a:rPr>
              <a:t>The </a:t>
            </a:r>
            <a:r>
              <a:rPr b="1" dirty="0" sz="4600" i="0" lang="en-US">
                <a:effectLst/>
                <a:latin typeface="Times New Roman" panose="02020603050405020304" pitchFamily="18" charset="0"/>
                <a:cs typeface="Times New Roman" panose="02020603050405020304" pitchFamily="18" charset="0"/>
              </a:rPr>
              <a:t>survey</a:t>
            </a:r>
            <a:r>
              <a:rPr b="1" dirty="0" sz="4600" i="0" lang="en-US">
                <a:effectLst/>
                <a:latin typeface="Times New Roman" panose="02020603050405020304" pitchFamily="18" charset="0"/>
                <a:cs typeface="Times New Roman" panose="02020603050405020304" pitchFamily="18" charset="0"/>
              </a:rPr>
              <a:t> </a:t>
            </a:r>
            <a:r>
              <a:rPr b="1" dirty="0" sz="4600" i="0" lang="en-US">
                <a:effectLst/>
                <a:latin typeface="Times New Roman" panose="02020603050405020304" pitchFamily="18" charset="0"/>
                <a:cs typeface="Times New Roman" panose="02020603050405020304" pitchFamily="18" charset="0"/>
              </a:rPr>
              <a:t>q</a:t>
            </a:r>
            <a:r>
              <a:rPr b="1" dirty="0" sz="4600" i="0" lang="en-US">
                <a:effectLst/>
                <a:latin typeface="Times New Roman" panose="02020603050405020304" pitchFamily="18" charset="0"/>
                <a:cs typeface="Times New Roman" panose="02020603050405020304" pitchFamily="18" charset="0"/>
              </a:rPr>
              <a:t>u</a:t>
            </a:r>
            <a:r>
              <a:rPr b="1" dirty="0" sz="4600" i="0" lang="en-US">
                <a:effectLst/>
                <a:latin typeface="Times New Roman" panose="02020603050405020304" pitchFamily="18" charset="0"/>
                <a:cs typeface="Times New Roman" panose="02020603050405020304" pitchFamily="18" charset="0"/>
              </a:rPr>
              <a:t>stionnaire </a:t>
            </a:r>
            <a:r>
              <a:rPr b="1" dirty="0" sz="4600" i="0" lang="en-US">
                <a:effectLst/>
                <a:latin typeface="Times New Roman" panose="02020603050405020304" pitchFamily="18" charset="0"/>
                <a:cs typeface="Times New Roman" panose="02020603050405020304" pitchFamily="18" charset="0"/>
              </a:rPr>
              <a:t> </a:t>
            </a:r>
            <a:r>
              <a:rPr b="0" dirty="0" sz="4600" i="0" lang="en-US">
                <a:effectLst/>
                <a:latin typeface="Times New Roman" panose="02020603050405020304" pitchFamily="18" charset="0"/>
                <a:cs typeface="Times New Roman" panose="02020603050405020304" pitchFamily="18" charset="0"/>
              </a:rPr>
              <a:t>measured</a:t>
            </a:r>
            <a:r>
              <a:rPr b="0" dirty="0" sz="4600" i="0" lang="en-US">
                <a:effectLst/>
                <a:latin typeface="Times New Roman" panose="02020603050405020304" pitchFamily="18" charset="0"/>
                <a:cs typeface="Times New Roman" panose="02020603050405020304" pitchFamily="18" charset="0"/>
              </a:rPr>
              <a:t> the participants' demographic profile, challenges</a:t>
            </a:r>
            <a:r>
              <a:rPr b="0" dirty="0" sz="4600" i="0" lang="en-US">
                <a:effectLst/>
                <a:latin typeface="Times New Roman" panose="02020603050405020304" pitchFamily="18" charset="0"/>
                <a:cs typeface="Times New Roman" panose="02020603050405020304" pitchFamily="18" charset="0"/>
              </a:rPr>
              <a:t> </a:t>
            </a:r>
            <a:r>
              <a:rPr b="0" dirty="0" sz="4600" i="0" lang="en-US">
                <a:effectLst/>
                <a:latin typeface="Times New Roman" panose="02020603050405020304" pitchFamily="18" charset="0"/>
                <a:cs typeface="Times New Roman" panose="02020603050405020304" pitchFamily="18" charset="0"/>
              </a:rPr>
              <a:t>a</a:t>
            </a:r>
            <a:r>
              <a:rPr b="0" dirty="0" sz="4600" i="0" lang="en-US">
                <a:effectLst/>
                <a:latin typeface="Times New Roman" panose="02020603050405020304" pitchFamily="18" charset="0"/>
                <a:cs typeface="Times New Roman" panose="02020603050405020304" pitchFamily="18" charset="0"/>
              </a:rPr>
              <a:t>n</a:t>
            </a:r>
            <a:r>
              <a:rPr b="0" dirty="0" sz="4600" i="0" lang="en-US">
                <a:effectLst/>
                <a:latin typeface="Times New Roman" panose="02020603050405020304" pitchFamily="18" charset="0"/>
                <a:cs typeface="Times New Roman" panose="02020603050405020304" pitchFamily="18" charset="0"/>
              </a:rPr>
              <a:t>d</a:t>
            </a:r>
            <a:r>
              <a:rPr b="0" dirty="0" sz="4600" i="0" lang="en-US">
                <a:effectLst/>
                <a:latin typeface="Times New Roman" panose="02020603050405020304" pitchFamily="18" charset="0"/>
                <a:cs typeface="Times New Roman" panose="02020603050405020304" pitchFamily="18" charset="0"/>
              </a:rPr>
              <a:t> </a:t>
            </a:r>
            <a:r>
              <a:rPr b="0" dirty="0" sz="4600" i="0" lang="en-US">
                <a:effectLst/>
                <a:latin typeface="Times New Roman" panose="02020603050405020304" pitchFamily="18" charset="0"/>
                <a:cs typeface="Times New Roman" panose="02020603050405020304" pitchFamily="18" charset="0"/>
              </a:rPr>
              <a:t> coping strategies</a:t>
            </a:r>
            <a:r>
              <a:rPr b="0" dirty="0" sz="4600" i="0" lang="en-US">
                <a:effectLst/>
                <a:latin typeface="Times New Roman" panose="02020603050405020304" pitchFamily="18" charset="0"/>
                <a:cs typeface="Times New Roman" panose="02020603050405020304" pitchFamily="18" charset="0"/>
              </a:rPr>
              <a:t>.</a:t>
            </a:r>
            <a:endParaRPr b="0" dirty="0" sz="4600" lang="en-PH">
              <a:latin typeface="Times New Roman" panose="02020603050405020304" pitchFamily="18" charset="0"/>
              <a:cs typeface="Times New Roman" panose="02020603050405020304" pitchFamily="18" charset="0"/>
            </a:endParaRPr>
          </a:p>
          <a:p>
            <a:pPr algn="l">
              <a:buFont typeface="Wingdings" charset="2"/>
              <a:buChar char="n"/>
            </a:pPr>
            <a:r>
              <a:rPr b="0" dirty="0" sz="4600" i="0" lang="en-US">
                <a:effectLst/>
                <a:latin typeface="Times New Roman" panose="02020603050405020304" pitchFamily="18" charset="0"/>
                <a:cs typeface="Times New Roman" panose="02020603050405020304" pitchFamily="18" charset="0"/>
              </a:rPr>
              <a:t>T</a:t>
            </a:r>
            <a:r>
              <a:rPr b="0" dirty="0" sz="4600" i="0" lang="en-US">
                <a:effectLst/>
                <a:latin typeface="Times New Roman" panose="02020603050405020304" pitchFamily="18" charset="0"/>
                <a:cs typeface="Times New Roman" panose="02020603050405020304" pitchFamily="18" charset="0"/>
              </a:rPr>
              <a:t>he </a:t>
            </a:r>
            <a:r>
              <a:rPr b="1" dirty="0" sz="4600" i="0" lang="en-US">
                <a:effectLst/>
                <a:latin typeface="Times New Roman" panose="02020603050405020304" pitchFamily="18" charset="0"/>
                <a:cs typeface="Times New Roman" panose="02020603050405020304" pitchFamily="18" charset="0"/>
              </a:rPr>
              <a:t>interviews</a:t>
            </a:r>
            <a:r>
              <a:rPr b="1" dirty="0" sz="4600" i="0" lang="en-US">
                <a:effectLst/>
                <a:latin typeface="Times New Roman" panose="02020603050405020304" pitchFamily="18" charset="0"/>
                <a:cs typeface="Times New Roman" panose="02020603050405020304" pitchFamily="18" charset="0"/>
              </a:rPr>
              <a:t> </a:t>
            </a:r>
            <a:r>
              <a:rPr b="1" dirty="0" sz="4600" i="0" lang="en-US">
                <a:effectLst/>
                <a:latin typeface="Times New Roman" panose="02020603050405020304" pitchFamily="18" charset="0"/>
                <a:cs typeface="Times New Roman" panose="02020603050405020304" pitchFamily="18" charset="0"/>
              </a:rPr>
              <a:t>q</a:t>
            </a:r>
            <a:r>
              <a:rPr b="1" dirty="0" sz="4600" i="0" lang="en-US">
                <a:effectLst/>
                <a:latin typeface="Times New Roman" panose="02020603050405020304" pitchFamily="18" charset="0"/>
                <a:cs typeface="Times New Roman" panose="02020603050405020304" pitchFamily="18" charset="0"/>
              </a:rPr>
              <a:t>estionnaire</a:t>
            </a:r>
            <a:r>
              <a:rPr b="0" dirty="0" sz="4600" i="0" lang="en-US">
                <a:effectLst/>
                <a:latin typeface="Times New Roman" panose="02020603050405020304" pitchFamily="18" charset="0"/>
                <a:cs typeface="Times New Roman" panose="02020603050405020304" pitchFamily="18" charset="0"/>
              </a:rPr>
              <a:t> explored their personal experiences in balancing academic and part-time work responsibilities</a:t>
            </a:r>
            <a:r>
              <a:rPr b="0" dirty="0" sz="4600" i="0" lang="en-US">
                <a:effectLst/>
                <a:latin typeface="Times New Roman" panose="02020603050405020304" pitchFamily="18" charset="0"/>
                <a:cs typeface="Times New Roman" panose="02020603050405020304" pitchFamily="18" charset="0"/>
              </a:rPr>
              <a:t> </a:t>
            </a:r>
            <a:r>
              <a:rPr b="0" dirty="0" sz="4600" i="0" lang="en-US">
                <a:effectLst/>
                <a:latin typeface="Times New Roman" panose="02020603050405020304" pitchFamily="18" charset="0"/>
                <a:cs typeface="Times New Roman" panose="02020603050405020304" pitchFamily="18" charset="0"/>
              </a:rPr>
              <a:t>a</a:t>
            </a:r>
            <a:r>
              <a:rPr b="0" dirty="0" sz="4600" i="0" lang="en-US">
                <a:effectLst/>
                <a:latin typeface="Times New Roman" panose="02020603050405020304" pitchFamily="18" charset="0"/>
                <a:cs typeface="Times New Roman" panose="02020603050405020304" pitchFamily="18" charset="0"/>
              </a:rPr>
              <a:t>n</a:t>
            </a:r>
            <a:r>
              <a:rPr b="0" dirty="0" sz="4600" i="0" lang="en-US">
                <a:effectLst/>
                <a:latin typeface="Times New Roman" panose="02020603050405020304" pitchFamily="18" charset="0"/>
                <a:cs typeface="Times New Roman" panose="02020603050405020304" pitchFamily="18" charset="0"/>
              </a:rPr>
              <a:t>d</a:t>
            </a:r>
            <a:r>
              <a:rPr b="0" dirty="0" sz="4600" i="0" lang="en-US">
                <a:effectLst/>
                <a:latin typeface="Times New Roman" panose="02020603050405020304" pitchFamily="18" charset="0"/>
                <a:cs typeface="Times New Roman" panose="02020603050405020304" pitchFamily="18" charset="0"/>
              </a:rPr>
              <a:t>ffects </a:t>
            </a:r>
            <a:r>
              <a:rPr b="0" dirty="0" sz="4600" i="0" lang="en-US">
                <a:effectLst/>
                <a:latin typeface="Times New Roman" panose="02020603050405020304" pitchFamily="18" charset="0"/>
                <a:cs typeface="Times New Roman" panose="02020603050405020304" pitchFamily="18" charset="0"/>
              </a:rPr>
              <a:t>f</a:t>
            </a:r>
            <a:r>
              <a:rPr b="0" dirty="0" sz="4600" i="0" lang="en-US">
                <a:effectLst/>
                <a:latin typeface="Times New Roman" panose="02020603050405020304" pitchFamily="18" charset="0"/>
                <a:cs typeface="Times New Roman" panose="02020603050405020304" pitchFamily="18" charset="0"/>
              </a:rPr>
              <a:t>ects </a:t>
            </a:r>
            <a:r>
              <a:rPr b="0" dirty="0" sz="4600" i="0" lang="en-US">
                <a:effectLst/>
                <a:latin typeface="Times New Roman" panose="02020603050405020304" pitchFamily="18" charset="0"/>
                <a:cs typeface="Times New Roman" panose="02020603050405020304" pitchFamily="18" charset="0"/>
              </a:rPr>
              <a:t>t</a:t>
            </a:r>
            <a:r>
              <a:rPr b="0" dirty="0" sz="4600" i="0" lang="en-US">
                <a:effectLst/>
                <a:latin typeface="Times New Roman" panose="02020603050405020304" pitchFamily="18" charset="0"/>
                <a:cs typeface="Times New Roman" panose="02020603050405020304" pitchFamily="18" charset="0"/>
              </a:rPr>
              <a:t>o</a:t>
            </a:r>
            <a:r>
              <a:rPr b="0" dirty="0" sz="4600" i="0" lang="en-US">
                <a:effectLst/>
                <a:latin typeface="Times New Roman" panose="02020603050405020304" pitchFamily="18" charset="0"/>
                <a:cs typeface="Times New Roman" panose="02020603050405020304" pitchFamily="18" charset="0"/>
              </a:rPr>
              <a:t> </a:t>
            </a:r>
            <a:r>
              <a:rPr b="0" dirty="0" sz="4600" i="0" lang="en-US">
                <a:effectLst/>
                <a:latin typeface="Times New Roman" panose="02020603050405020304" pitchFamily="18" charset="0"/>
                <a:cs typeface="Times New Roman" panose="02020603050405020304" pitchFamily="18" charset="0"/>
              </a:rPr>
              <a:t>t</a:t>
            </a:r>
            <a:r>
              <a:rPr b="0" dirty="0" sz="4600" i="0" lang="en-US">
                <a:effectLst/>
                <a:latin typeface="Times New Roman" panose="02020603050405020304" pitchFamily="18" charset="0"/>
                <a:cs typeface="Times New Roman" panose="02020603050405020304" pitchFamily="18" charset="0"/>
              </a:rPr>
              <a:t>h</a:t>
            </a:r>
            <a:r>
              <a:rPr b="0" dirty="0" sz="4600" i="0" lang="en-US">
                <a:effectLst/>
                <a:latin typeface="Times New Roman" panose="02020603050405020304" pitchFamily="18" charset="0"/>
                <a:cs typeface="Times New Roman" panose="02020603050405020304" pitchFamily="18" charset="0"/>
              </a:rPr>
              <a:t>e</a:t>
            </a:r>
            <a:r>
              <a:rPr b="0" dirty="0" sz="4600" i="0" lang="en-US">
                <a:effectLst/>
                <a:latin typeface="Times New Roman" panose="02020603050405020304" pitchFamily="18" charset="0"/>
                <a:cs typeface="Times New Roman" panose="02020603050405020304" pitchFamily="18" charset="0"/>
              </a:rPr>
              <a:t>i</a:t>
            </a:r>
            <a:r>
              <a:rPr b="0" dirty="0" sz="4600" i="0" lang="en-US">
                <a:effectLst/>
                <a:latin typeface="Times New Roman" panose="02020603050405020304" pitchFamily="18" charset="0"/>
                <a:cs typeface="Times New Roman" panose="02020603050405020304" pitchFamily="18" charset="0"/>
              </a:rPr>
              <a:t>r</a:t>
            </a:r>
            <a:r>
              <a:rPr b="0" dirty="0" sz="4600" i="0" lang="en-US">
                <a:effectLst/>
                <a:latin typeface="Times New Roman" panose="02020603050405020304" pitchFamily="18" charset="0"/>
                <a:cs typeface="Times New Roman" panose="02020603050405020304" pitchFamily="18" charset="0"/>
              </a:rPr>
              <a:t> </a:t>
            </a:r>
            <a:r>
              <a:rPr b="0" dirty="0" sz="4600" i="0" lang="en-US">
                <a:effectLst/>
                <a:latin typeface="Times New Roman" panose="02020603050405020304" pitchFamily="18" charset="0"/>
                <a:cs typeface="Times New Roman" panose="02020603050405020304" pitchFamily="18" charset="0"/>
              </a:rPr>
              <a:t>psychological </a:t>
            </a:r>
            <a:r>
              <a:rPr b="0" dirty="0" sz="4600" i="0" lang="en-US">
                <a:effectLst/>
                <a:latin typeface="Times New Roman" panose="02020603050405020304" pitchFamily="18" charset="0"/>
                <a:cs typeface="Times New Roman" panose="02020603050405020304" pitchFamily="18" charset="0"/>
              </a:rPr>
              <a:t> </a:t>
            </a:r>
            <a:r>
              <a:rPr b="0" dirty="0" sz="4600" i="0" lang="en-US">
                <a:effectLst/>
                <a:latin typeface="Times New Roman" panose="02020603050405020304" pitchFamily="18" charset="0"/>
                <a:cs typeface="Times New Roman" panose="02020603050405020304" pitchFamily="18" charset="0"/>
              </a:rPr>
              <a:t>w</a:t>
            </a:r>
            <a:r>
              <a:rPr b="0" dirty="0" sz="4600" i="0" lang="en-US">
                <a:effectLst/>
                <a:latin typeface="Times New Roman" panose="02020603050405020304" pitchFamily="18" charset="0"/>
                <a:cs typeface="Times New Roman" panose="02020603050405020304" pitchFamily="18" charset="0"/>
              </a:rPr>
              <a:t>e</a:t>
            </a:r>
            <a:r>
              <a:rPr b="0" dirty="0" sz="4600" i="0" lang="en-US">
                <a:effectLst/>
                <a:latin typeface="Times New Roman" panose="02020603050405020304" pitchFamily="18" charset="0"/>
                <a:cs typeface="Times New Roman" panose="02020603050405020304" pitchFamily="18" charset="0"/>
              </a:rPr>
              <a:t>l</a:t>
            </a:r>
            <a:r>
              <a:rPr b="0" dirty="0" sz="4600" i="0" lang="en-US">
                <a:effectLst/>
                <a:latin typeface="Times New Roman" panose="02020603050405020304" pitchFamily="18" charset="0"/>
                <a:cs typeface="Times New Roman" panose="02020603050405020304" pitchFamily="18" charset="0"/>
              </a:rPr>
              <a:t>-being</a:t>
            </a:r>
            <a:r>
              <a:rPr b="0" dirty="0" sz="4600" i="0" lang="en-US">
                <a:effectLst/>
                <a:latin typeface="Times New Roman" panose="02020603050405020304" pitchFamily="18" charset="0"/>
                <a:cs typeface="Times New Roman" panose="02020603050405020304" pitchFamily="18" charset="0"/>
              </a:rPr>
              <a:t>.</a:t>
            </a:r>
            <a:endParaRPr b="0" dirty="0" sz="4600" lang="en-PH">
              <a:latin typeface="Times New Roman" panose="02020603050405020304" pitchFamily="18" charset="0"/>
              <a:cs typeface="Times New Roman" panose="02020603050405020304" pitchFamily="18" charset="0"/>
            </a:endParaRPr>
          </a:p>
          <a:p>
            <a:pPr algn="l">
              <a:buFont typeface="Wingdings" charset="2"/>
              <a:buChar char="n"/>
            </a:pPr>
            <a:endParaRPr b="0" dirty="0" sz="4600" lang="en-PH">
              <a:latin typeface="Times New Roman" panose="02020603050405020304" pitchFamily="18" charset="0"/>
              <a:cs typeface="Times New Roman" panose="02020603050405020304" pitchFamily="18" charset="0"/>
            </a:endParaRPr>
          </a:p>
          <a:p>
            <a:pPr algn="l">
              <a:buFont typeface="Wingdings" charset="2"/>
              <a:buChar char="n"/>
            </a:pPr>
            <a:endParaRPr b="0" dirty="0" sz="4600" lang="en-PH">
              <a:latin typeface="Times New Roman" panose="02020603050405020304" pitchFamily="18" charset="0"/>
              <a:cs typeface="Times New Roman" panose="02020603050405020304" pitchFamily="18" charset="0"/>
            </a:endParaRPr>
          </a:p>
          <a:p>
            <a:pPr algn="ctr" indent="0" marL="0">
              <a:buNone/>
            </a:pPr>
            <a:endParaRPr b="1" dirty="0" sz="4600" lang="en-PH">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605" name="Title 1"/>
          <p:cNvSpPr>
            <a:spLocks noGrp="1"/>
          </p:cNvSpPr>
          <p:nvPr>
            <p:ph type="title"/>
          </p:nvPr>
        </p:nvSpPr>
        <p:spPr/>
        <p:txBody>
          <a:bodyPr/>
          <a:p>
            <a:pPr algn="ctr"/>
            <a:r>
              <a:rPr b="1" dirty="0" lang="en-PH">
                <a:latin typeface="Times New Roman" panose="02020603050405020304" pitchFamily="18" charset="0"/>
                <a:cs typeface="Times New Roman" panose="02020603050405020304" pitchFamily="18" charset="0"/>
              </a:rPr>
              <a:t>Chapter 5 – Summary</a:t>
            </a:r>
            <a:endParaRPr dirty="0" lang="en-PH"/>
          </a:p>
        </p:txBody>
      </p:sp>
      <p:sp>
        <p:nvSpPr>
          <p:cNvPr id="1048606" name="Content Placeholder 2"/>
          <p:cNvSpPr>
            <a:spLocks noGrp="1"/>
          </p:cNvSpPr>
          <p:nvPr>
            <p:ph idx="1"/>
          </p:nvPr>
        </p:nvSpPr>
        <p:spPr>
          <a:xfrm>
            <a:off x="1029383" y="1538780"/>
            <a:ext cx="10515600" cy="4351338"/>
          </a:xfrm>
        </p:spPr>
        <p:txBody>
          <a:bodyPr>
            <a:normAutofit fontScale="92500" lnSpcReduction="20000"/>
          </a:bodyPr>
          <a:p>
            <a:pPr algn="l" indent="0" marL="0">
              <a:buNone/>
            </a:pPr>
            <a:r>
              <a:rPr b="0" dirty="0" sz="4000" i="0" lang="en-US">
                <a:effectLst/>
                <a:latin typeface="Times New Roman" panose="02020603050405020304" pitchFamily="18" charset="0"/>
                <a:cs typeface="Times New Roman" panose="02020603050405020304" pitchFamily="18" charset="0"/>
              </a:rPr>
              <a:t>This study examined the psychological well-being of Bachelor of Science in Social Work (BSSW) working students at </a:t>
            </a:r>
            <a:r>
              <a:rPr b="0" dirty="0" sz="4000" i="0" lang="en-US" err="1">
                <a:effectLst/>
                <a:latin typeface="Times New Roman" panose="02020603050405020304" pitchFamily="18" charset="0"/>
                <a:cs typeface="Times New Roman" panose="02020603050405020304" pitchFamily="18" charset="0"/>
              </a:rPr>
              <a:t>Dalubhasaan</a:t>
            </a:r>
            <a:r>
              <a:rPr b="0" dirty="0" sz="4000" i="0" lang="en-US">
                <a:effectLst/>
                <a:latin typeface="Times New Roman" panose="02020603050405020304" pitchFamily="18" charset="0"/>
                <a:cs typeface="Times New Roman" panose="02020603050405020304" pitchFamily="18" charset="0"/>
              </a:rPr>
              <a:t> ng </a:t>
            </a:r>
            <a:r>
              <a:rPr b="0" dirty="0" sz="4000" i="0" lang="en-US" err="1">
                <a:effectLst/>
                <a:latin typeface="Times New Roman" panose="02020603050405020304" pitchFamily="18" charset="0"/>
                <a:cs typeface="Times New Roman" panose="02020603050405020304" pitchFamily="18" charset="0"/>
              </a:rPr>
              <a:t>Lungsod</a:t>
            </a:r>
            <a:r>
              <a:rPr b="0" dirty="0" sz="4000" i="0" lang="en-US">
                <a:effectLst/>
                <a:latin typeface="Times New Roman" panose="02020603050405020304" pitchFamily="18" charset="0"/>
                <a:cs typeface="Times New Roman" panose="02020603050405020304" pitchFamily="18" charset="0"/>
              </a:rPr>
              <a:t> ng </a:t>
            </a:r>
            <a:r>
              <a:rPr b="0" dirty="0" sz="4000" i="0" lang="en-US" err="1">
                <a:effectLst/>
                <a:latin typeface="Times New Roman" panose="02020603050405020304" pitchFamily="18" charset="0"/>
                <a:cs typeface="Times New Roman" panose="02020603050405020304" pitchFamily="18" charset="0"/>
              </a:rPr>
              <a:t>Lucena.The</a:t>
            </a:r>
            <a:r>
              <a:rPr b="0" dirty="0" sz="4000" i="0" lang="en-US">
                <a:effectLst/>
                <a:latin typeface="Times New Roman" panose="02020603050405020304" pitchFamily="18" charset="0"/>
                <a:cs typeface="Times New Roman" panose="02020603050405020304" pitchFamily="18" charset="0"/>
              </a:rPr>
              <a:t> study employed a Convergent Parallel Mixed-Method Research Design, combining quantitative and qualitative approaches. Quantitative data were gathered through survey questionnaires from 40 </a:t>
            </a:r>
            <a:r>
              <a:rPr b="0" dirty="0" sz="4000" i="0" lang="en-US">
                <a:effectLst/>
                <a:latin typeface="Times New Roman" panose="02020603050405020304" pitchFamily="18" charset="0"/>
                <a:cs typeface="Times New Roman" panose="02020603050405020304" pitchFamily="18" charset="0"/>
              </a:rPr>
              <a:t>B</a:t>
            </a:r>
            <a:r>
              <a:rPr b="0" dirty="0" sz="4000" i="0" lang="en-US">
                <a:effectLst/>
                <a:latin typeface="Times New Roman" panose="02020603050405020304" pitchFamily="18" charset="0"/>
                <a:cs typeface="Times New Roman" panose="02020603050405020304" pitchFamily="18" charset="0"/>
              </a:rPr>
              <a:t>S</a:t>
            </a:r>
            <a:r>
              <a:rPr b="0" dirty="0" sz="4000" i="0" lang="en-US">
                <a:effectLst/>
                <a:latin typeface="Times New Roman" panose="02020603050405020304" pitchFamily="18" charset="0"/>
                <a:cs typeface="Times New Roman" panose="02020603050405020304" pitchFamily="18" charset="0"/>
              </a:rPr>
              <a:t>S</a:t>
            </a:r>
            <a:r>
              <a:rPr b="0" dirty="0" sz="4000" i="0" lang="en-US">
                <a:effectLst/>
                <a:latin typeface="Times New Roman" panose="02020603050405020304" pitchFamily="18" charset="0"/>
                <a:cs typeface="Times New Roman" panose="02020603050405020304" pitchFamily="18" charset="0"/>
              </a:rPr>
              <a:t>W</a:t>
            </a:r>
            <a:r>
              <a:rPr b="0" dirty="0" sz="4000" i="0" lang="en-US">
                <a:effectLst/>
                <a:latin typeface="Times New Roman" panose="02020603050405020304" pitchFamily="18" charset="0"/>
                <a:cs typeface="Times New Roman" panose="02020603050405020304" pitchFamily="18" charset="0"/>
              </a:rPr>
              <a:t> </a:t>
            </a:r>
            <a:r>
              <a:rPr b="0" dirty="0" sz="4000" i="0" lang="en-US">
                <a:effectLst/>
                <a:latin typeface="Times New Roman" panose="02020603050405020304" pitchFamily="18" charset="0"/>
                <a:cs typeface="Times New Roman" panose="02020603050405020304" pitchFamily="18" charset="0"/>
              </a:rPr>
              <a:t>working students, while qualitative data were obtained through in-depth interviews with selected participants.</a:t>
            </a:r>
            <a:endParaRPr dirty="0" sz="4000" lang="en-PH">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07" name="Title 1"/>
          <p:cNvSpPr>
            <a:spLocks noGrp="1"/>
          </p:cNvSpPr>
          <p:nvPr>
            <p:ph type="title"/>
          </p:nvPr>
        </p:nvSpPr>
        <p:spPr>
          <a:xfrm>
            <a:off x="838200" y="232603"/>
            <a:ext cx="10886075" cy="1325563"/>
          </a:xfrm>
        </p:spPr>
        <p:txBody>
          <a:bodyPr/>
          <a:p>
            <a:pPr algn="ctr"/>
            <a:r>
              <a:rPr b="1" dirty="0" lang="en-PH">
                <a:latin typeface="Times New Roman" panose="02020603050405020304" pitchFamily="18" charset="0"/>
                <a:cs typeface="Times New Roman" panose="02020603050405020304" pitchFamily="18" charset="0"/>
              </a:rPr>
              <a:t>Findings, </a:t>
            </a:r>
            <a:r>
              <a:rPr b="1" dirty="0" lang="en-US">
                <a:latin typeface="Times New Roman" panose="02020603050405020304" pitchFamily="18" charset="0"/>
                <a:cs typeface="Times New Roman" panose="02020603050405020304" pitchFamily="18" charset="0"/>
              </a:rPr>
              <a:t>Conclusions, Recommendation</a:t>
            </a:r>
            <a:r>
              <a:rPr b="1" dirty="0" lang="en-US">
                <a:latin typeface="Times New Roman" panose="02020603050405020304" pitchFamily="18" charset="0"/>
                <a:cs typeface="Times New Roman" panose="02020603050405020304" pitchFamily="18" charset="0"/>
              </a:rPr>
              <a:t>s</a:t>
            </a:r>
            <a:r>
              <a:rPr b="1" dirty="0" lang="en-US">
                <a:latin typeface="Times New Roman" panose="02020603050405020304" pitchFamily="18" charset="0"/>
                <a:cs typeface="Times New Roman" panose="02020603050405020304" pitchFamily="18" charset="0"/>
              </a:rPr>
              <a:t> </a:t>
            </a:r>
            <a:endParaRPr b="1" dirty="0" lang="en-PH">
              <a:latin typeface="Times New Roman" panose="02020603050405020304" pitchFamily="18" charset="0"/>
              <a:cs typeface="Times New Roman" panose="02020603050405020304" pitchFamily="18" charset="0"/>
            </a:endParaRPr>
          </a:p>
        </p:txBody>
      </p:sp>
      <p:sp>
        <p:nvSpPr>
          <p:cNvPr id="1048608" name="Content Placeholder 3"/>
          <p:cNvSpPr>
            <a:spLocks noGrp="1"/>
          </p:cNvSpPr>
          <p:nvPr>
            <p:ph idx="1"/>
          </p:nvPr>
        </p:nvSpPr>
        <p:spPr/>
        <p:txBody>
          <a:bodyPr/>
          <a:p>
            <a:pPr algn="ctr"/>
            <a:endParaRPr dirty="0" lang="en-PH"/>
          </a:p>
          <a:p>
            <a:pPr algn="ctr" indent="0" marL="0">
              <a:buNone/>
            </a:pPr>
            <a:endParaRPr dirty="0" lang="en-PH"/>
          </a:p>
        </p:txBody>
      </p:sp>
      <p:graphicFrame>
        <p:nvGraphicFramePr>
          <p:cNvPr id="4194306" name="Table 4"/>
          <p:cNvGraphicFramePr>
            <a:graphicFrameLocks noGrp="1"/>
          </p:cNvGraphicFramePr>
          <p:nvPr/>
        </p:nvGraphicFramePr>
        <p:xfrm>
          <a:off x="765313" y="1344014"/>
          <a:ext cx="10661375" cy="4626127"/>
        </p:xfrm>
        <a:graphic>
          <a:graphicData uri="http://schemas.openxmlformats.org/drawingml/2006/table">
            <a:tbl>
              <a:tblPr firstRow="1" bandRow="1">
                <a:tableStyleId>{0505E3EF-67EA-436B-97B2-0124C06EBD24}</a:tableStyleId>
              </a:tblPr>
              <a:tblGrid>
                <a:gridCol w="2054087"/>
                <a:gridCol w="2796209"/>
                <a:gridCol w="2779950"/>
                <a:gridCol w="3031129"/>
              </a:tblGrid>
              <a:tr h="968527">
                <a:tc>
                  <a:txBody>
                    <a:bodyPr/>
                    <a:p>
                      <a:pPr algn="ctr"/>
                      <a:r>
                        <a:rPr dirty="0" lang="en-US">
                          <a:solidFill>
                            <a:schemeClr val="tx1"/>
                          </a:solidFill>
                          <a:latin typeface="Times New Roman" panose="02020603050405020304" pitchFamily="18" charset="0"/>
                          <a:cs typeface="Times New Roman" panose="02020603050405020304" pitchFamily="18" charset="0"/>
                        </a:rPr>
                        <a:t>OBJECTIVES</a:t>
                      </a:r>
                      <a:endParaRPr dirty="0" lang="en-PH">
                        <a:solidFill>
                          <a:schemeClr val="tx1"/>
                        </a:solidFill>
                        <a:latin typeface="Times New Roman" panose="02020603050405020304" pitchFamily="18" charset="0"/>
                        <a:cs typeface="Times New Roman" panose="02020603050405020304" pitchFamily="18" charset="0"/>
                      </a:endParaRPr>
                    </a:p>
                  </a:txBody>
                </a:tc>
                <a:tc>
                  <a:txBody>
                    <a:bodyPr/>
                    <a:p>
                      <a:pPr algn="ctr"/>
                      <a:r>
                        <a:rPr dirty="0" lang="en-US">
                          <a:solidFill>
                            <a:schemeClr val="tx1"/>
                          </a:solidFill>
                          <a:latin typeface="Times New Roman" panose="02020603050405020304" pitchFamily="18" charset="0"/>
                          <a:cs typeface="Times New Roman" panose="02020603050405020304" pitchFamily="18" charset="0"/>
                        </a:rPr>
                        <a:t>FINDINGS</a:t>
                      </a:r>
                      <a:endParaRPr dirty="0" lang="en-PH">
                        <a:solidFill>
                          <a:schemeClr val="tx1"/>
                        </a:solidFill>
                        <a:latin typeface="Times New Roman" panose="02020603050405020304" pitchFamily="18" charset="0"/>
                        <a:cs typeface="Times New Roman" panose="02020603050405020304" pitchFamily="18" charset="0"/>
                      </a:endParaRPr>
                    </a:p>
                  </a:txBody>
                </a:tc>
                <a:tc>
                  <a:txBody>
                    <a:bodyPr/>
                    <a:p>
                      <a:pPr algn="ctr"/>
                      <a:r>
                        <a:rPr dirty="0" lang="en-US">
                          <a:solidFill>
                            <a:schemeClr val="tx1"/>
                          </a:solidFill>
                          <a:latin typeface="Times New Roman" panose="02020603050405020304" pitchFamily="18" charset="0"/>
                          <a:cs typeface="Times New Roman" panose="02020603050405020304" pitchFamily="18" charset="0"/>
                        </a:rPr>
                        <a:t>CONCLUSION</a:t>
                      </a:r>
                      <a:endParaRPr dirty="0" lang="en-PH">
                        <a:solidFill>
                          <a:schemeClr val="tx1"/>
                        </a:solidFill>
                        <a:latin typeface="Times New Roman" panose="02020603050405020304" pitchFamily="18" charset="0"/>
                        <a:cs typeface="Times New Roman" panose="02020603050405020304" pitchFamily="18" charset="0"/>
                      </a:endParaRPr>
                    </a:p>
                  </a:txBody>
                </a:tc>
                <a:tc>
                  <a:txBody>
                    <a:bodyPr/>
                    <a:p>
                      <a:pPr algn="ctr"/>
                      <a:r>
                        <a:rPr dirty="0" lang="en-US">
                          <a:solidFill>
                            <a:schemeClr val="tx1"/>
                          </a:solidFill>
                          <a:latin typeface="Times New Roman" panose="02020603050405020304" pitchFamily="18" charset="0"/>
                          <a:cs typeface="Times New Roman" panose="02020603050405020304" pitchFamily="18" charset="0"/>
                        </a:rPr>
                        <a:t>RECOMMENDATIONS </a:t>
                      </a:r>
                      <a:endParaRPr dirty="0" lang="en-PH">
                        <a:solidFill>
                          <a:schemeClr val="tx1"/>
                        </a:solidFill>
                        <a:latin typeface="Times New Roman" panose="02020603050405020304" pitchFamily="18" charset="0"/>
                        <a:cs typeface="Times New Roman" panose="02020603050405020304" pitchFamily="18" charset="0"/>
                      </a:endParaRPr>
                    </a:p>
                  </a:txBody>
                </a:tc>
              </a:tr>
              <a:tr h="968527">
                <a:tc>
                  <a:txBody>
                    <a:bodyPr/>
                    <a:p>
                      <a:pPr algn="l" fontAlgn="base" indent="-342900" marL="342900" rtl="0">
                        <a:buFont typeface="+mj-lt"/>
                        <a:buAutoNum type="arabicPeriod"/>
                      </a:pPr>
                      <a:r>
                        <a:rPr b="0" dirty="0" sz="1800" kern="1200" lang="en-US" strike="noStrike" u="none">
                          <a:solidFill>
                            <a:schemeClr val="dk1"/>
                          </a:solidFill>
                          <a:effectLst/>
                          <a:latin typeface="Times New Roman" panose="02020603050405020304" pitchFamily="18" charset="0"/>
                          <a:cs typeface="Times New Roman" panose="02020603050405020304" pitchFamily="18" charset="0"/>
                        </a:rPr>
                        <a:t>Determine the demographics profile of  the respondents in terms of:</a:t>
                      </a:r>
                    </a:p>
                    <a:p>
                      <a:pPr algn="l" rtl="0"/>
                      <a:r>
                        <a:rPr b="0" dirty="0" sz="1800" kern="1200" lang="en-US" strike="noStrike" u="none">
                          <a:solidFill>
                            <a:schemeClr val="dk1"/>
                          </a:solidFill>
                          <a:effectLst/>
                          <a:latin typeface="Times New Roman" panose="02020603050405020304" pitchFamily="18" charset="0"/>
                          <a:cs typeface="Times New Roman" panose="02020603050405020304" pitchFamily="18" charset="0"/>
                        </a:rPr>
                        <a:t>   1.1 Age</a:t>
                      </a:r>
                      <a:endParaRPr b="0" dirty="0" lang="en-US">
                        <a:effectLst/>
                        <a:latin typeface="Times New Roman" panose="02020603050405020304" pitchFamily="18" charset="0"/>
                        <a:cs typeface="Times New Roman" panose="02020603050405020304" pitchFamily="18" charset="0"/>
                      </a:endParaRPr>
                    </a:p>
                    <a:p>
                      <a:pPr algn="l" rtl="0"/>
                      <a:r>
                        <a:rPr b="0" dirty="0" sz="1800" kern="1200" lang="en-US" strike="noStrike" u="none">
                          <a:solidFill>
                            <a:schemeClr val="dk1"/>
                          </a:solidFill>
                          <a:effectLst/>
                          <a:latin typeface="Times New Roman" panose="02020603050405020304" pitchFamily="18" charset="0"/>
                          <a:cs typeface="Times New Roman" panose="02020603050405020304" pitchFamily="18" charset="0"/>
                        </a:rPr>
                        <a:t>   1.2 Sex </a:t>
                      </a:r>
                      <a:endParaRPr b="0" dirty="0" lang="en-US">
                        <a:effectLst/>
                        <a:latin typeface="Times New Roman" panose="02020603050405020304" pitchFamily="18" charset="0"/>
                        <a:cs typeface="Times New Roman" panose="02020603050405020304" pitchFamily="18" charset="0"/>
                      </a:endParaRPr>
                    </a:p>
                    <a:p>
                      <a:pPr algn="l" rtl="0"/>
                      <a:r>
                        <a:rPr b="0" dirty="0" sz="1800" kern="1200" lang="en-US" strike="noStrike" u="none">
                          <a:solidFill>
                            <a:schemeClr val="dk1"/>
                          </a:solidFill>
                          <a:effectLst/>
                          <a:latin typeface="Times New Roman" panose="02020603050405020304" pitchFamily="18" charset="0"/>
                          <a:cs typeface="Times New Roman" panose="02020603050405020304" pitchFamily="18" charset="0"/>
                        </a:rPr>
                        <a:t>   1.3 Year Level</a:t>
                      </a:r>
                      <a:endParaRPr b="0" dirty="0" lang="en-US">
                        <a:effectLst/>
                        <a:latin typeface="Times New Roman" panose="02020603050405020304" pitchFamily="18" charset="0"/>
                        <a:cs typeface="Times New Roman" panose="02020603050405020304" pitchFamily="18" charset="0"/>
                      </a:endParaRPr>
                    </a:p>
                    <a:p>
                      <a:pPr algn="l" rtl="0"/>
                      <a:r>
                        <a:rPr b="0" dirty="0" sz="1800" kern="1200" lang="en-US" strike="noStrike" u="none">
                          <a:solidFill>
                            <a:schemeClr val="dk1"/>
                          </a:solidFill>
                          <a:effectLst/>
                          <a:latin typeface="Times New Roman" panose="02020603050405020304" pitchFamily="18" charset="0"/>
                          <a:cs typeface="Times New Roman" panose="02020603050405020304" pitchFamily="18" charset="0"/>
                        </a:rPr>
                        <a:t>   1.4 Civil Status</a:t>
                      </a:r>
                      <a:endParaRPr b="0" dirty="0" lang="en-US">
                        <a:effectLst/>
                        <a:latin typeface="Times New Roman" panose="02020603050405020304" pitchFamily="18" charset="0"/>
                        <a:cs typeface="Times New Roman" panose="02020603050405020304" pitchFamily="18" charset="0"/>
                      </a:endParaRPr>
                    </a:p>
                    <a:p>
                      <a:pPr algn="l"/>
                      <a:endParaRPr dirty="0" lang="en-PH">
                        <a:solidFill>
                          <a:schemeClr val="tx1"/>
                        </a:solidFill>
                        <a:latin typeface="Times New Roman" panose="02020603050405020304" pitchFamily="18" charset="0"/>
                        <a:cs typeface="Times New Roman" panose="02020603050405020304" pitchFamily="18" charset="0"/>
                      </a:endParaRPr>
                    </a:p>
                  </a:txBody>
                </a:tc>
                <a:tc>
                  <a:txBody>
                    <a:bodyPr/>
                    <a:p>
                      <a:pPr algn="l" defTabSz="914400" eaLnBrk="1" fontAlgn="auto" hangingPunct="1" indent="0" latinLnBrk="0" lvl="0" marL="0" marR="0" rtl="0">
                        <a:lnSpc>
                          <a:spcPct val="100000"/>
                        </a:lnSpc>
                        <a:spcBef>
                          <a:spcPts val="0"/>
                        </a:spcBef>
                        <a:spcAft>
                          <a:spcPts val="0"/>
                        </a:spcAft>
                        <a:buClrTx/>
                        <a:buSzTx/>
                        <a:buFontTx/>
                        <a:buNone/>
                      </a:pPr>
                      <a:r>
                        <a:rPr b="0" dirty="0" sz="1800" kern="1200" lang="en-US" strike="noStrike" u="none">
                          <a:solidFill>
                            <a:schemeClr val="dk1"/>
                          </a:solidFill>
                          <a:effectLst/>
                          <a:latin typeface="Times New Roman" panose="02020603050405020304" pitchFamily="18" charset="0"/>
                          <a:cs typeface="Times New Roman" panose="02020603050405020304" pitchFamily="18" charset="0"/>
                        </a:rPr>
                        <a:t>The majority of the participants were 20 years old, female, first-year students, and single. Most BSSW working students are in the early stages of college while balancing academic and work responsibilities.</a:t>
                      </a:r>
                    </a:p>
                    <a:p>
                      <a:pPr algn="l" defTabSz="914400" eaLnBrk="1" fontAlgn="auto" hangingPunct="1" indent="0" latinLnBrk="0" lvl="0" marL="0" marR="0" rtl="0">
                        <a:lnSpc>
                          <a:spcPct val="100000"/>
                        </a:lnSpc>
                        <a:spcBef>
                          <a:spcPts val="0"/>
                        </a:spcBef>
                        <a:spcAft>
                          <a:spcPts val="0"/>
                        </a:spcAft>
                        <a:buClrTx/>
                        <a:buSzTx/>
                        <a:buFontTx/>
                        <a:buNone/>
                      </a:pPr>
                      <a:endParaRPr b="0" dirty="0" sz="1800" kern="1200" lang="en-US" strike="noStrike" u="none">
                        <a:solidFill>
                          <a:schemeClr val="dk1"/>
                        </a:solidFill>
                        <a:effectLst/>
                        <a:latin typeface="Times New Roman" panose="02020603050405020304" pitchFamily="18" charset="0"/>
                        <a:cs typeface="Times New Roman" panose="02020603050405020304" pitchFamily="18" charset="0"/>
                      </a:endParaRPr>
                    </a:p>
                    <a:p>
                      <a:pPr algn="l"/>
                      <a:endParaRPr dirty="0" lang="en-PH">
                        <a:solidFill>
                          <a:schemeClr val="tx1"/>
                        </a:solidFill>
                        <a:latin typeface="Times New Roman" panose="02020603050405020304" pitchFamily="18" charset="0"/>
                        <a:cs typeface="Times New Roman" panose="02020603050405020304" pitchFamily="18" charset="0"/>
                      </a:endParaRPr>
                    </a:p>
                  </a:txBody>
                </a:tc>
                <a:tc>
                  <a:txBody>
                    <a:bodyPr/>
                    <a:p>
                      <a:pPr algn="l"/>
                      <a:r>
                        <a:rPr b="0" dirty="0" sz="1800" kern="1200" lang="en-US" strike="noStrike" u="none">
                          <a:solidFill>
                            <a:schemeClr val="dk1"/>
                          </a:solidFill>
                          <a:effectLst/>
                          <a:latin typeface="Times New Roman" panose="02020603050405020304" pitchFamily="18" charset="0"/>
                          <a:cs typeface="Times New Roman" panose="02020603050405020304" pitchFamily="18" charset="0"/>
                        </a:rPr>
                        <a:t>The BSSW working students at DLL have the main responsibility of maintaining satisfactory academic performance while fulfilling their part-time work responsibility. They strive to meet the academic standards of their program while working to support their educational and daily expenses.</a:t>
                      </a:r>
                      <a:endParaRPr dirty="0" lang="en-PH">
                        <a:solidFill>
                          <a:schemeClr val="tx1"/>
                        </a:solidFill>
                        <a:latin typeface="Times New Roman" panose="02020603050405020304" pitchFamily="18" charset="0"/>
                        <a:cs typeface="Times New Roman" panose="02020603050405020304" pitchFamily="18" charset="0"/>
                      </a:endParaRPr>
                    </a:p>
                  </a:txBody>
                </a:tc>
                <a:tc>
                  <a:txBody>
                    <a:bodyPr/>
                    <a:p>
                      <a:pPr algn="l" defTabSz="914400" eaLnBrk="1" fontAlgn="auto" hangingPunct="1" indent="0" latinLnBrk="0" lvl="0" marL="0" marR="0" rtl="0">
                        <a:lnSpc>
                          <a:spcPct val="100000"/>
                        </a:lnSpc>
                        <a:spcBef>
                          <a:spcPts val="0"/>
                        </a:spcBef>
                        <a:spcAft>
                          <a:spcPts val="0"/>
                        </a:spcAft>
                        <a:buClrTx/>
                        <a:buSzTx/>
                        <a:buFontTx/>
                        <a:buNone/>
                      </a:pPr>
                      <a:r>
                        <a:rPr b="1" dirty="0" sz="1800" kern="1200" lang="en-US" strike="noStrike" u="none">
                          <a:solidFill>
                            <a:schemeClr val="dk1"/>
                          </a:solidFill>
                          <a:effectLst/>
                          <a:latin typeface="Times New Roman" panose="02020603050405020304" pitchFamily="18" charset="0"/>
                          <a:cs typeface="Times New Roman" panose="02020603050405020304" pitchFamily="18" charset="0"/>
                        </a:rPr>
                        <a:t>For working students themselves,</a:t>
                      </a:r>
                      <a:r>
                        <a:rPr b="0" dirty="0" sz="1800" kern="1200" lang="en-US" strike="noStrike" u="none">
                          <a:solidFill>
                            <a:schemeClr val="dk1"/>
                          </a:solidFill>
                          <a:effectLst/>
                          <a:latin typeface="Times New Roman" panose="02020603050405020304" pitchFamily="18" charset="0"/>
                          <a:cs typeface="Times New Roman" panose="02020603050405020304" pitchFamily="18" charset="0"/>
                        </a:rPr>
                        <a:t> it is recommended that they continue practicing effective time management, self-discipline, and self-care strategies such as relaxation techniques, healthy lifestyle practices, and seeking social or emotional support to help manage stress and maintain psychological well-being.</a:t>
                      </a:r>
                      <a:endParaRPr b="1" dirty="0" sz="1800" kern="1200" lang="en-US" strike="noStrike" u="none">
                        <a:solidFill>
                          <a:schemeClr val="dk1"/>
                        </a:solidFill>
                        <a:effectLst/>
                        <a:latin typeface="Times New Roman" panose="02020603050405020304" pitchFamily="18" charset="0"/>
                        <a:cs typeface="Times New Roman" panose="02020603050405020304" pitchFamily="18" charset="0"/>
                      </a:endParaRPr>
                    </a:p>
                    <a:p>
                      <a:pPr algn="l"/>
                      <a:endParaRPr dirty="0" lang="en-PH">
                        <a:solidFill>
                          <a:schemeClr val="tx1"/>
                        </a:solidFill>
                        <a:latin typeface="Times New Roman" panose="02020603050405020304" pitchFamily="18" charset="0"/>
                        <a:cs typeface="Times New Roman" panose="02020603050405020304" pitchFamily="18" charset="0"/>
                      </a:endParaRPr>
                    </a:p>
                  </a:txBody>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graphicFrame>
        <p:nvGraphicFramePr>
          <p:cNvPr id="4194307" name="Table 4"/>
          <p:cNvGraphicFramePr>
            <a:graphicFrameLocks noGrp="1"/>
          </p:cNvGraphicFramePr>
          <p:nvPr/>
        </p:nvGraphicFramePr>
        <p:xfrm>
          <a:off x="705677" y="391973"/>
          <a:ext cx="10648123" cy="6272047"/>
        </p:xfrm>
        <a:graphic>
          <a:graphicData uri="http://schemas.openxmlformats.org/drawingml/2006/table">
            <a:tbl>
              <a:tblPr firstRow="1" bandRow="1">
                <a:tableStyleId>{0505E3EF-67EA-436B-97B2-0124C06EBD24}</a:tableStyleId>
              </a:tblPr>
              <a:tblGrid>
                <a:gridCol w="2040835"/>
                <a:gridCol w="2796209"/>
                <a:gridCol w="2779950"/>
                <a:gridCol w="3031129"/>
              </a:tblGrid>
              <a:tr h="968527">
                <a:tc>
                  <a:txBody>
                    <a:bodyPr/>
                    <a:p>
                      <a:pPr algn="ctr"/>
                      <a:r>
                        <a:rPr dirty="0" lang="en-US">
                          <a:solidFill>
                            <a:schemeClr val="tx1"/>
                          </a:solidFill>
                          <a:latin typeface="Times New Roman" panose="02020603050405020304" pitchFamily="18" charset="0"/>
                          <a:cs typeface="Times New Roman" panose="02020603050405020304" pitchFamily="18" charset="0"/>
                        </a:rPr>
                        <a:t>OBJECTIVES</a:t>
                      </a:r>
                      <a:endParaRPr dirty="0" lang="en-PH">
                        <a:solidFill>
                          <a:schemeClr val="tx1"/>
                        </a:solidFill>
                        <a:latin typeface="Times New Roman" panose="02020603050405020304" pitchFamily="18" charset="0"/>
                        <a:cs typeface="Times New Roman" panose="02020603050405020304" pitchFamily="18" charset="0"/>
                      </a:endParaRPr>
                    </a:p>
                  </a:txBody>
                </a:tc>
                <a:tc>
                  <a:txBody>
                    <a:bodyPr/>
                    <a:p>
                      <a:pPr algn="ctr"/>
                      <a:r>
                        <a:rPr dirty="0" lang="en-US">
                          <a:solidFill>
                            <a:schemeClr val="tx1"/>
                          </a:solidFill>
                          <a:latin typeface="Times New Roman" panose="02020603050405020304" pitchFamily="18" charset="0"/>
                          <a:cs typeface="Times New Roman" panose="02020603050405020304" pitchFamily="18" charset="0"/>
                        </a:rPr>
                        <a:t>FINDINGS</a:t>
                      </a:r>
                      <a:endParaRPr dirty="0" lang="en-PH">
                        <a:solidFill>
                          <a:schemeClr val="tx1"/>
                        </a:solidFill>
                        <a:latin typeface="Times New Roman" panose="02020603050405020304" pitchFamily="18" charset="0"/>
                        <a:cs typeface="Times New Roman" panose="02020603050405020304" pitchFamily="18" charset="0"/>
                      </a:endParaRPr>
                    </a:p>
                  </a:txBody>
                </a:tc>
                <a:tc>
                  <a:txBody>
                    <a:bodyPr/>
                    <a:p>
                      <a:pPr algn="ctr"/>
                      <a:r>
                        <a:rPr dirty="0" lang="en-US">
                          <a:solidFill>
                            <a:schemeClr val="tx1"/>
                          </a:solidFill>
                          <a:latin typeface="Times New Roman" panose="02020603050405020304" pitchFamily="18" charset="0"/>
                          <a:cs typeface="Times New Roman" panose="02020603050405020304" pitchFamily="18" charset="0"/>
                        </a:rPr>
                        <a:t>CONCLUSION</a:t>
                      </a:r>
                      <a:endParaRPr dirty="0" lang="en-PH">
                        <a:solidFill>
                          <a:schemeClr val="tx1"/>
                        </a:solidFill>
                        <a:latin typeface="Times New Roman" panose="02020603050405020304" pitchFamily="18" charset="0"/>
                        <a:cs typeface="Times New Roman" panose="02020603050405020304" pitchFamily="18" charset="0"/>
                      </a:endParaRPr>
                    </a:p>
                  </a:txBody>
                </a:tc>
                <a:tc>
                  <a:txBody>
                    <a:bodyPr/>
                    <a:p>
                      <a:pPr algn="ctr"/>
                      <a:r>
                        <a:rPr dirty="0" lang="en-US">
                          <a:solidFill>
                            <a:schemeClr val="tx1"/>
                          </a:solidFill>
                          <a:latin typeface="Times New Roman" panose="02020603050405020304" pitchFamily="18" charset="0"/>
                          <a:cs typeface="Times New Roman" panose="02020603050405020304" pitchFamily="18" charset="0"/>
                        </a:rPr>
                        <a:t>RECOMMENDATIONS </a:t>
                      </a:r>
                      <a:endParaRPr dirty="0" lang="en-PH">
                        <a:solidFill>
                          <a:schemeClr val="tx1"/>
                        </a:solidFill>
                        <a:latin typeface="Times New Roman" panose="02020603050405020304" pitchFamily="18" charset="0"/>
                        <a:cs typeface="Times New Roman" panose="02020603050405020304" pitchFamily="18" charset="0"/>
                      </a:endParaRPr>
                    </a:p>
                  </a:txBody>
                </a:tc>
              </a:tr>
              <a:tr h="968527">
                <a:tc>
                  <a:txBody>
                    <a:bodyPr/>
                    <a:p>
                      <a:pPr algn="l" fontAlgn="base" indent="0" marL="0" rtl="0">
                        <a:buFont typeface="+mj-lt"/>
                        <a:buNone/>
                      </a:pPr>
                      <a:r>
                        <a:rPr b="0" dirty="0" sz="1800" kern="1200" lang="en-US" strike="noStrike" u="none">
                          <a:solidFill>
                            <a:schemeClr val="dk1"/>
                          </a:solidFill>
                          <a:effectLst/>
                          <a:latin typeface="Times New Roman" panose="02020603050405020304" pitchFamily="18" charset="0"/>
                          <a:cs typeface="Times New Roman" panose="02020603050405020304" pitchFamily="18" charset="0"/>
                        </a:rPr>
                        <a:t>2.    Explore the common challenges experienced by BSSW working students, in terms of: 2.1 Financial Difficulties</a:t>
                      </a:r>
                      <a:endParaRPr b="0" dirty="0" lang="en-US">
                        <a:effectLst/>
                        <a:latin typeface="Times New Roman" panose="02020603050405020304" pitchFamily="18" charset="0"/>
                        <a:cs typeface="Times New Roman" panose="02020603050405020304" pitchFamily="18" charset="0"/>
                      </a:endParaRPr>
                    </a:p>
                    <a:p>
                      <a:pPr algn="l" rtl="0"/>
                      <a:r>
                        <a:rPr b="0" dirty="0" sz="1800" kern="1200" lang="en-US" strike="noStrike" u="none">
                          <a:solidFill>
                            <a:schemeClr val="dk1"/>
                          </a:solidFill>
                          <a:effectLst/>
                          <a:latin typeface="Times New Roman" panose="02020603050405020304" pitchFamily="18" charset="0"/>
                          <a:cs typeface="Times New Roman" panose="02020603050405020304" pitchFamily="18" charset="0"/>
                        </a:rPr>
                        <a:t>           2.2 Physical Exhaustion </a:t>
                      </a:r>
                      <a:endParaRPr b="0" dirty="0" lang="en-US">
                        <a:effectLst/>
                        <a:latin typeface="Times New Roman" panose="02020603050405020304" pitchFamily="18" charset="0"/>
                        <a:cs typeface="Times New Roman" panose="02020603050405020304" pitchFamily="18" charset="0"/>
                      </a:endParaRPr>
                    </a:p>
                    <a:p>
                      <a:pPr algn="l" rtl="0"/>
                      <a:r>
                        <a:rPr b="0" dirty="0" sz="1800" kern="1200" lang="en-US" strike="noStrike" u="none">
                          <a:solidFill>
                            <a:schemeClr val="dk1"/>
                          </a:solidFill>
                          <a:effectLst/>
                          <a:latin typeface="Times New Roman" panose="02020603050405020304" pitchFamily="18" charset="0"/>
                          <a:cs typeface="Times New Roman" panose="02020603050405020304" pitchFamily="18" charset="0"/>
                        </a:rPr>
                        <a:t>           2.3 Academic Requirements</a:t>
                      </a:r>
                      <a:endParaRPr b="0" dirty="0" lang="en-US">
                        <a:effectLst/>
                        <a:latin typeface="Times New Roman" panose="02020603050405020304" pitchFamily="18" charset="0"/>
                        <a:cs typeface="Times New Roman" panose="02020603050405020304" pitchFamily="18" charset="0"/>
                      </a:endParaRPr>
                    </a:p>
                  </a:txBody>
                </a:tc>
                <a:tc>
                  <a:txBody>
                    <a:bodyPr/>
                    <a:p>
                      <a:pPr algn="l" defTabSz="914400" eaLnBrk="1" fontAlgn="auto" hangingPunct="1" indent="0" latinLnBrk="0" lvl="0" marL="0" marR="0" rtl="0">
                        <a:lnSpc>
                          <a:spcPct val="100000"/>
                        </a:lnSpc>
                        <a:spcBef>
                          <a:spcPts val="0"/>
                        </a:spcBef>
                        <a:spcAft>
                          <a:spcPts val="0"/>
                        </a:spcAft>
                        <a:buClrTx/>
                        <a:buSzTx/>
                        <a:buFontTx/>
                        <a:buNone/>
                      </a:pPr>
                      <a:r>
                        <a:rPr b="0" dirty="0" sz="1800" kern="1200" lang="en-US" strike="noStrike" u="none">
                          <a:solidFill>
                            <a:schemeClr val="dk1"/>
                          </a:solidFill>
                          <a:effectLst/>
                          <a:latin typeface="Times New Roman" panose="02020603050405020304" pitchFamily="18" charset="0"/>
                          <a:cs typeface="Times New Roman" panose="02020603050405020304" pitchFamily="18" charset="0"/>
                        </a:rPr>
                        <a:t>The qualitative findings supported these results, as participants shared experiences of financial struggles, physical exhaustion, and difficulties in balancing academic requirements with work responsibilities.</a:t>
                      </a:r>
                    </a:p>
                    <a:p>
                      <a:pPr algn="l"/>
                      <a:endParaRPr dirty="0" lang="en-PH">
                        <a:solidFill>
                          <a:schemeClr val="tx1"/>
                        </a:solidFill>
                        <a:latin typeface="Times New Roman" panose="02020603050405020304" pitchFamily="18" charset="0"/>
                        <a:cs typeface="Times New Roman" panose="02020603050405020304" pitchFamily="18" charset="0"/>
                      </a:endParaRPr>
                    </a:p>
                  </a:txBody>
                </a:tc>
                <a:tc>
                  <a:txBody>
                    <a:bodyPr/>
                    <a:p>
                      <a:pPr algn="l" defTabSz="914400" eaLnBrk="1" fontAlgn="auto" hangingPunct="1" indent="0" latinLnBrk="0" lvl="0" marL="0" marR="0" rtl="0">
                        <a:lnSpc>
                          <a:spcPct val="100000"/>
                        </a:lnSpc>
                        <a:spcBef>
                          <a:spcPts val="0"/>
                        </a:spcBef>
                        <a:spcAft>
                          <a:spcPts val="0"/>
                        </a:spcAft>
                        <a:buClrTx/>
                        <a:buSzTx/>
                        <a:buFontTx/>
                        <a:buNone/>
                      </a:pPr>
                      <a:r>
                        <a:rPr b="0" dirty="0" sz="1800" kern="1200" lang="en-US" strike="noStrike" u="none">
                          <a:solidFill>
                            <a:schemeClr val="dk1"/>
                          </a:solidFill>
                          <a:effectLst/>
                          <a:latin typeface="Times New Roman" panose="02020603050405020304" pitchFamily="18" charset="0"/>
                          <a:cs typeface="Times New Roman" panose="02020603050405020304" pitchFamily="18" charset="0"/>
                        </a:rPr>
                        <a:t>Working students in the BSSW Department at DLL face numerous challenges while balancing their responsibilities as both students and employees. These challenges arise from the need to manage both academic and work-related responsibilities simultaneously. Despite these difficulties, they continue to work because their earnings help cover not only their educational expenses but also their daily needs and personal allowances.</a:t>
                      </a:r>
                    </a:p>
                    <a:p>
                      <a:pPr algn="l"/>
                      <a:endParaRPr dirty="0" lang="en-PH">
                        <a:solidFill>
                          <a:schemeClr val="tx1"/>
                        </a:solidFill>
                        <a:latin typeface="Times New Roman" panose="02020603050405020304" pitchFamily="18" charset="0"/>
                        <a:cs typeface="Times New Roman" panose="02020603050405020304" pitchFamily="18" charset="0"/>
                      </a:endParaRPr>
                    </a:p>
                  </a:txBody>
                </a:tc>
                <a:tc>
                  <a:txBody>
                    <a:bodyPr/>
                    <a:p>
                      <a:pPr algn="l" fontAlgn="base" rtl="0"/>
                      <a:r>
                        <a:rPr b="1" dirty="0" sz="1800" kern="1200" lang="en-US" strike="noStrike" u="none">
                          <a:solidFill>
                            <a:schemeClr val="dk1"/>
                          </a:solidFill>
                          <a:effectLst/>
                          <a:latin typeface="Times New Roman" panose="02020603050405020304" pitchFamily="18" charset="0"/>
                          <a:cs typeface="Times New Roman" panose="02020603050405020304" pitchFamily="18" charset="0"/>
                        </a:rPr>
                        <a:t>For the faculty members of </a:t>
                      </a:r>
                      <a:r>
                        <a:rPr b="1" dirty="0" sz="1800" kern="1200" lang="en-US" err="1" strike="noStrike" u="none">
                          <a:solidFill>
                            <a:schemeClr val="dk1"/>
                          </a:solidFill>
                          <a:effectLst/>
                          <a:latin typeface="Times New Roman" panose="02020603050405020304" pitchFamily="18" charset="0"/>
                          <a:cs typeface="Times New Roman" panose="02020603050405020304" pitchFamily="18" charset="0"/>
                        </a:rPr>
                        <a:t>Dalubhasaan</a:t>
                      </a:r>
                      <a:r>
                        <a:rPr b="1" dirty="0" sz="1800" kern="1200" lang="en-US" strike="noStrike" u="none">
                          <a:solidFill>
                            <a:schemeClr val="dk1"/>
                          </a:solidFill>
                          <a:effectLst/>
                          <a:latin typeface="Times New Roman" panose="02020603050405020304" pitchFamily="18" charset="0"/>
                          <a:cs typeface="Times New Roman" panose="02020603050405020304" pitchFamily="18" charset="0"/>
                        </a:rPr>
                        <a:t> ng </a:t>
                      </a:r>
                      <a:r>
                        <a:rPr b="1" dirty="0" sz="1800" kern="1200" lang="en-US" err="1" strike="noStrike" u="none">
                          <a:solidFill>
                            <a:schemeClr val="dk1"/>
                          </a:solidFill>
                          <a:effectLst/>
                          <a:latin typeface="Times New Roman" panose="02020603050405020304" pitchFamily="18" charset="0"/>
                          <a:cs typeface="Times New Roman" panose="02020603050405020304" pitchFamily="18" charset="0"/>
                        </a:rPr>
                        <a:t>Lungsod</a:t>
                      </a:r>
                      <a:r>
                        <a:rPr b="1" dirty="0" sz="1800" kern="1200" lang="en-US" strike="noStrike" u="none">
                          <a:solidFill>
                            <a:schemeClr val="dk1"/>
                          </a:solidFill>
                          <a:effectLst/>
                          <a:latin typeface="Times New Roman" panose="02020603050405020304" pitchFamily="18" charset="0"/>
                          <a:cs typeface="Times New Roman" panose="02020603050405020304" pitchFamily="18" charset="0"/>
                        </a:rPr>
                        <a:t> ng </a:t>
                      </a:r>
                      <a:r>
                        <a:rPr b="1" dirty="0" sz="1800" kern="1200" lang="en-US" err="1" strike="noStrike" u="none">
                          <a:solidFill>
                            <a:schemeClr val="dk1"/>
                          </a:solidFill>
                          <a:effectLst/>
                          <a:latin typeface="Times New Roman" panose="02020603050405020304" pitchFamily="18" charset="0"/>
                          <a:cs typeface="Times New Roman" panose="02020603050405020304" pitchFamily="18" charset="0"/>
                        </a:rPr>
                        <a:t>Lucena</a:t>
                      </a:r>
                      <a:r>
                        <a:rPr b="0" dirty="0" sz="1800" kern="1200" lang="en-US" strike="noStrike" u="none">
                          <a:solidFill>
                            <a:schemeClr val="dk1"/>
                          </a:solidFill>
                          <a:effectLst/>
                          <a:latin typeface="Times New Roman" panose="02020603050405020304" pitchFamily="18" charset="0"/>
                          <a:cs typeface="Times New Roman" panose="02020603050405020304" pitchFamily="18" charset="0"/>
                        </a:rPr>
                        <a:t>, it is recommended that they consider the situation of working students by providing reasonable flexibility in academic requirements when necessary, such as manageable deadlines and workload adjustments, to reduce academic pressure and support student performance.</a:t>
                      </a:r>
                      <a:endParaRPr b="1" dirty="0" sz="1800" kern="1200" lang="en-US" strike="noStrike" u="none">
                        <a:solidFill>
                          <a:schemeClr val="dk1"/>
                        </a:solidFill>
                        <a:effectLst/>
                        <a:latin typeface="Times New Roman" panose="02020603050405020304" pitchFamily="18" charset="0"/>
                        <a:cs typeface="Times New Roman" panose="02020603050405020304" pitchFamily="18" charset="0"/>
                      </a:endParaRPr>
                    </a:p>
                    <a:p>
                      <a:pPr algn="l"/>
                      <a:endParaRPr dirty="0" lang="en-PH">
                        <a:solidFill>
                          <a:schemeClr val="tx1"/>
                        </a:solidFill>
                        <a:latin typeface="Times New Roman" panose="02020603050405020304" pitchFamily="18" charset="0"/>
                        <a:cs typeface="Times New Roman" panose="02020603050405020304" pitchFamily="18" charset="0"/>
                      </a:endParaRPr>
                    </a:p>
                  </a:txBody>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graphicFrame>
        <p:nvGraphicFramePr>
          <p:cNvPr id="4194308" name="Table 4"/>
          <p:cNvGraphicFramePr>
            <a:graphicFrameLocks noGrp="1"/>
          </p:cNvGraphicFramePr>
          <p:nvPr/>
        </p:nvGraphicFramePr>
        <p:xfrm>
          <a:off x="705677" y="391973"/>
          <a:ext cx="10648123" cy="6272047"/>
        </p:xfrm>
        <a:graphic>
          <a:graphicData uri="http://schemas.openxmlformats.org/drawingml/2006/table">
            <a:tbl>
              <a:tblPr firstRow="1" bandRow="1">
                <a:tableStyleId>{0505E3EF-67EA-436B-97B2-0124C06EBD24}</a:tableStyleId>
              </a:tblPr>
              <a:tblGrid>
                <a:gridCol w="2040835"/>
                <a:gridCol w="2796209"/>
                <a:gridCol w="2779950"/>
                <a:gridCol w="3031129"/>
              </a:tblGrid>
              <a:tr h="968527">
                <a:tc>
                  <a:txBody>
                    <a:bodyPr/>
                    <a:p>
                      <a:pPr algn="ctr"/>
                      <a:r>
                        <a:rPr dirty="0" lang="en-US">
                          <a:solidFill>
                            <a:schemeClr val="tx1"/>
                          </a:solidFill>
                          <a:latin typeface="Times New Roman" panose="02020603050405020304" pitchFamily="18" charset="0"/>
                          <a:cs typeface="Times New Roman" panose="02020603050405020304" pitchFamily="18" charset="0"/>
                        </a:rPr>
                        <a:t>OBJECTIVES</a:t>
                      </a:r>
                      <a:endParaRPr dirty="0" lang="en-PH">
                        <a:solidFill>
                          <a:schemeClr val="tx1"/>
                        </a:solidFill>
                        <a:latin typeface="Times New Roman" panose="02020603050405020304" pitchFamily="18" charset="0"/>
                        <a:cs typeface="Times New Roman" panose="02020603050405020304" pitchFamily="18" charset="0"/>
                      </a:endParaRPr>
                    </a:p>
                  </a:txBody>
                </a:tc>
                <a:tc>
                  <a:txBody>
                    <a:bodyPr/>
                    <a:p>
                      <a:pPr algn="ctr"/>
                      <a:r>
                        <a:rPr dirty="0" lang="en-US">
                          <a:solidFill>
                            <a:schemeClr val="tx1"/>
                          </a:solidFill>
                          <a:latin typeface="Times New Roman" panose="02020603050405020304" pitchFamily="18" charset="0"/>
                          <a:cs typeface="Times New Roman" panose="02020603050405020304" pitchFamily="18" charset="0"/>
                        </a:rPr>
                        <a:t>FINDINGS</a:t>
                      </a:r>
                      <a:endParaRPr dirty="0" lang="en-PH">
                        <a:solidFill>
                          <a:schemeClr val="tx1"/>
                        </a:solidFill>
                        <a:latin typeface="Times New Roman" panose="02020603050405020304" pitchFamily="18" charset="0"/>
                        <a:cs typeface="Times New Roman" panose="02020603050405020304" pitchFamily="18" charset="0"/>
                      </a:endParaRPr>
                    </a:p>
                  </a:txBody>
                </a:tc>
                <a:tc>
                  <a:txBody>
                    <a:bodyPr/>
                    <a:p>
                      <a:pPr algn="ctr"/>
                      <a:r>
                        <a:rPr dirty="0" lang="en-US">
                          <a:solidFill>
                            <a:schemeClr val="tx1"/>
                          </a:solidFill>
                          <a:latin typeface="Times New Roman" panose="02020603050405020304" pitchFamily="18" charset="0"/>
                          <a:cs typeface="Times New Roman" panose="02020603050405020304" pitchFamily="18" charset="0"/>
                        </a:rPr>
                        <a:t>CONCLUSION</a:t>
                      </a:r>
                      <a:endParaRPr dirty="0" lang="en-PH">
                        <a:solidFill>
                          <a:schemeClr val="tx1"/>
                        </a:solidFill>
                        <a:latin typeface="Times New Roman" panose="02020603050405020304" pitchFamily="18" charset="0"/>
                        <a:cs typeface="Times New Roman" panose="02020603050405020304" pitchFamily="18" charset="0"/>
                      </a:endParaRPr>
                    </a:p>
                  </a:txBody>
                </a:tc>
                <a:tc>
                  <a:txBody>
                    <a:bodyPr/>
                    <a:p>
                      <a:pPr algn="ctr"/>
                      <a:r>
                        <a:rPr dirty="0" lang="en-US">
                          <a:solidFill>
                            <a:schemeClr val="tx1"/>
                          </a:solidFill>
                          <a:latin typeface="Times New Roman" panose="02020603050405020304" pitchFamily="18" charset="0"/>
                          <a:cs typeface="Times New Roman" panose="02020603050405020304" pitchFamily="18" charset="0"/>
                        </a:rPr>
                        <a:t>RECOMMENDATIONS </a:t>
                      </a:r>
                      <a:endParaRPr dirty="0" lang="en-PH">
                        <a:solidFill>
                          <a:schemeClr val="tx1"/>
                        </a:solidFill>
                        <a:latin typeface="Times New Roman" panose="02020603050405020304" pitchFamily="18" charset="0"/>
                        <a:cs typeface="Times New Roman" panose="02020603050405020304" pitchFamily="18" charset="0"/>
                      </a:endParaRPr>
                    </a:p>
                  </a:txBody>
                </a:tc>
              </a:tr>
              <a:tr h="968527">
                <a:tc>
                  <a:txBody>
                    <a:bodyPr/>
                    <a:p>
                      <a:pPr algn="l" fontAlgn="base" rtl="0"/>
                      <a:r>
                        <a:rPr b="0" dirty="0" sz="1800" kern="1200" lang="en-US" strike="noStrike" u="none">
                          <a:solidFill>
                            <a:schemeClr val="dk1"/>
                          </a:solidFill>
                          <a:effectLst/>
                          <a:latin typeface="Times New Roman" panose="02020603050405020304" pitchFamily="18" charset="0"/>
                          <a:cs typeface="Times New Roman" panose="02020603050405020304" pitchFamily="18" charset="0"/>
                        </a:rPr>
                        <a:t>3.    Determine the effects of dual responsibilities on the psychological well-being of working students, in terms of:</a:t>
                      </a:r>
                    </a:p>
                    <a:p>
                      <a:pPr algn="l" rtl="0"/>
                      <a:r>
                        <a:rPr b="0" dirty="0" sz="1800" kern="1200" lang="en-US" strike="noStrike" u="none">
                          <a:solidFill>
                            <a:schemeClr val="dk1"/>
                          </a:solidFill>
                          <a:effectLst/>
                          <a:latin typeface="Times New Roman" panose="02020603050405020304" pitchFamily="18" charset="0"/>
                          <a:cs typeface="Times New Roman" panose="02020603050405020304" pitchFamily="18" charset="0"/>
                        </a:rPr>
                        <a:t>           3.1Mental Aspect</a:t>
                      </a:r>
                      <a:endParaRPr b="0" dirty="0" lang="en-US">
                        <a:effectLst/>
                        <a:latin typeface="Times New Roman" panose="02020603050405020304" pitchFamily="18" charset="0"/>
                        <a:cs typeface="Times New Roman" panose="02020603050405020304" pitchFamily="18" charset="0"/>
                      </a:endParaRPr>
                    </a:p>
                    <a:p>
                      <a:pPr algn="l" rtl="0"/>
                      <a:r>
                        <a:rPr b="0" dirty="0" sz="1800" kern="1200" lang="en-US" strike="noStrike" u="none">
                          <a:solidFill>
                            <a:schemeClr val="dk1"/>
                          </a:solidFill>
                          <a:effectLst/>
                          <a:latin typeface="Times New Roman" panose="02020603050405020304" pitchFamily="18" charset="0"/>
                          <a:cs typeface="Times New Roman" panose="02020603050405020304" pitchFamily="18" charset="0"/>
                        </a:rPr>
                        <a:t>           3.2 Emotional Aspect</a:t>
                      </a:r>
                      <a:endParaRPr b="0" dirty="0" lang="en-US">
                        <a:effectLst/>
                        <a:latin typeface="Times New Roman" panose="02020603050405020304" pitchFamily="18" charset="0"/>
                        <a:cs typeface="Times New Roman" panose="02020603050405020304" pitchFamily="18" charset="0"/>
                      </a:endParaRPr>
                    </a:p>
                    <a:p>
                      <a:pPr algn="l" rtl="0"/>
                      <a:r>
                        <a:rPr b="0" dirty="0" sz="1800" kern="1200" lang="en-US" strike="noStrike" u="none">
                          <a:solidFill>
                            <a:schemeClr val="dk1"/>
                          </a:solidFill>
                          <a:effectLst/>
                          <a:latin typeface="Times New Roman" panose="02020603050405020304" pitchFamily="18" charset="0"/>
                          <a:cs typeface="Times New Roman" panose="02020603050405020304" pitchFamily="18" charset="0"/>
                        </a:rPr>
                        <a:t>           3.3 Social Aspect</a:t>
                      </a:r>
                      <a:endParaRPr b="0" dirty="0" lang="en-US">
                        <a:effectLst/>
                        <a:latin typeface="Times New Roman" panose="02020603050405020304" pitchFamily="18" charset="0"/>
                        <a:cs typeface="Times New Roman" panose="02020603050405020304" pitchFamily="18" charset="0"/>
                      </a:endParaRPr>
                    </a:p>
                  </a:txBody>
                </a:tc>
                <a:tc>
                  <a:txBody>
                    <a:bodyPr/>
                    <a:p>
                      <a:pPr algn="l" defTabSz="914400" eaLnBrk="1" fontAlgn="auto" hangingPunct="1" indent="0" latinLnBrk="0" lvl="0" marL="0" marR="0" rtl="0">
                        <a:lnSpc>
                          <a:spcPct val="100000"/>
                        </a:lnSpc>
                        <a:spcBef>
                          <a:spcPts val="0"/>
                        </a:spcBef>
                        <a:spcAft>
                          <a:spcPts val="0"/>
                        </a:spcAft>
                        <a:buClrTx/>
                        <a:buSzTx/>
                        <a:buFontTx/>
                        <a:buNone/>
                      </a:pPr>
                      <a:r>
                        <a:rPr b="0" dirty="0" sz="1800" kern="1200" lang="en-US" strike="noStrike" u="none">
                          <a:solidFill>
                            <a:schemeClr val="dk1"/>
                          </a:solidFill>
                          <a:effectLst/>
                          <a:latin typeface="Times New Roman" panose="02020603050405020304" pitchFamily="18" charset="0"/>
                          <a:cs typeface="Times New Roman" panose="02020603050405020304" pitchFamily="18" charset="0"/>
                        </a:rPr>
                        <a:t>The findings revealed that while work sometimes affects their concentration, it is not a constant issue for all respondents. </a:t>
                      </a:r>
                      <a:r>
                        <a:rPr b="0" dirty="0" sz="1800" kern="1200" lang="en-US" strike="noStrike" u="none">
                          <a:solidFill>
                            <a:schemeClr val="dk1"/>
                          </a:solidFill>
                          <a:effectLst/>
                          <a:latin typeface="Times New Roman" panose="02020603050405020304" pitchFamily="18" charset="0"/>
                          <a:cs typeface="Times New Roman" panose="02020603050405020304" pitchFamily="18" charset="0"/>
                        </a:rPr>
                        <a:t>T</a:t>
                      </a:r>
                      <a:r>
                        <a:rPr b="0" dirty="0" sz="1800" kern="1200" lang="en-US" strike="noStrike" u="none">
                          <a:solidFill>
                            <a:schemeClr val="dk1"/>
                          </a:solidFill>
                          <a:effectLst/>
                          <a:latin typeface="Times New Roman" panose="02020603050405020304" pitchFamily="18" charset="0"/>
                          <a:cs typeface="Times New Roman" panose="02020603050405020304" pitchFamily="18" charset="0"/>
                        </a:rPr>
                        <a:t>here are still working students who expressed feelings of accomplishment and fulfillment in being able to manage both roles. </a:t>
                      </a:r>
                      <a:r>
                        <a:rPr b="0" dirty="0" sz="1800" i="0" kern="1200" lang="en-US" strike="noStrike" u="none">
                          <a:solidFill>
                            <a:schemeClr val="dk1"/>
                          </a:solidFill>
                          <a:effectLst/>
                          <a:latin typeface="Times New Roman" panose="02020603050405020304" pitchFamily="18" charset="0"/>
                          <a:ea typeface="+mn-ea"/>
                          <a:cs typeface="Times New Roman" panose="02020603050405020304" pitchFamily="18" charset="0"/>
                        </a:rPr>
                        <a:t>Working students utilized digital platforms to stay connected with their families, friends to obtain social support, and manage feelings of stress especially when they overwhelmed. </a:t>
                      </a:r>
                      <a:endParaRPr altLang="en-US" lang="zh-CN"/>
                    </a:p>
                    <a:p>
                      <a:pPr algn="l" defTabSz="914400" eaLnBrk="1" fontAlgn="auto" hangingPunct="1" indent="0" latinLnBrk="0" lvl="0" marL="0" marR="0" rtl="0">
                        <a:lnSpc>
                          <a:spcPct val="100000"/>
                        </a:lnSpc>
                        <a:spcBef>
                          <a:spcPts val="0"/>
                        </a:spcBef>
                        <a:spcAft>
                          <a:spcPts val="0"/>
                        </a:spcAft>
                        <a:buClrTx/>
                        <a:buSzTx/>
                        <a:buFontTx/>
                        <a:buNone/>
                      </a:pPr>
                      <a:endParaRPr b="0" dirty="0" sz="1800" kern="1200" lang="en-US" strike="noStrike" u="none">
                        <a:solidFill>
                          <a:schemeClr val="dk1"/>
                        </a:solidFill>
                        <a:effectLst/>
                        <a:latin typeface="Times New Roman" panose="02020603050405020304" pitchFamily="18" charset="0"/>
                        <a:cs typeface="Times New Roman" panose="02020603050405020304" pitchFamily="18" charset="0"/>
                      </a:endParaRPr>
                    </a:p>
                    <a:p>
                      <a:pPr algn="l" defTabSz="914400" eaLnBrk="1" fontAlgn="auto" hangingPunct="1" indent="0" latinLnBrk="0" lvl="0" marL="0" marR="0" rtl="0">
                        <a:lnSpc>
                          <a:spcPct val="100000"/>
                        </a:lnSpc>
                        <a:spcBef>
                          <a:spcPts val="0"/>
                        </a:spcBef>
                        <a:spcAft>
                          <a:spcPts val="0"/>
                        </a:spcAft>
                        <a:buClrTx/>
                        <a:buSzTx/>
                        <a:buFontTx/>
                        <a:buNone/>
                      </a:pPr>
                      <a:endParaRPr dirty="0" lang="en-PH">
                        <a:solidFill>
                          <a:schemeClr val="tx1"/>
                        </a:solidFill>
                        <a:latin typeface="Times New Roman" panose="02020603050405020304" pitchFamily="18" charset="0"/>
                        <a:cs typeface="Times New Roman" panose="02020603050405020304" pitchFamily="18" charset="0"/>
                      </a:endParaRPr>
                    </a:p>
                  </a:txBody>
                </a:tc>
                <a:tc>
                  <a:txBody>
                    <a:bodyPr/>
                    <a:p>
                      <a:pPr algn="l" fontAlgn="base" rtl="0"/>
                      <a:r>
                        <a:rPr b="0" dirty="0" sz="1800" i="0" kern="1200" lang="en-US" strike="noStrike" u="none">
                          <a:solidFill>
                            <a:schemeClr val="dk1"/>
                          </a:solidFill>
                          <a:effectLst/>
                          <a:latin typeface="Times New Roman" panose="02020603050405020304" pitchFamily="18" charset="0"/>
                          <a:ea typeface="+mn-ea"/>
                          <a:cs typeface="Times New Roman" panose="02020603050405020304" pitchFamily="18" charset="0"/>
                        </a:rPr>
                        <a:t>The students who where having dual responsibilities with work is significantly affects their psychological well-being. Many of them experience mental fatigue, emotional strain, and social exclusion as a result of balancing academic requirements and part-time employment. These effects are influenced not only by their multiple responsibilities but also by the various challenges they encounter while managing both roles.</a:t>
                      </a:r>
                    </a:p>
                    <a:p>
                      <a:pPr algn="l"/>
                      <a:endParaRPr dirty="0" lang="en-PH">
                        <a:solidFill>
                          <a:schemeClr val="tx1"/>
                        </a:solidFill>
                        <a:latin typeface="Times New Roman" panose="02020603050405020304" pitchFamily="18" charset="0"/>
                        <a:cs typeface="Times New Roman" panose="02020603050405020304" pitchFamily="18" charset="0"/>
                      </a:endParaRPr>
                    </a:p>
                  </a:txBody>
                </a:tc>
                <a:tc>
                  <a:txBody>
                    <a:bodyPr/>
                    <a:p>
                      <a:pPr fontAlgn="base" rtl="0"/>
                      <a:r>
                        <a:rPr b="1" dirty="0" sz="1800" i="0" kern="1200" lang="en-US" strike="noStrike" u="none">
                          <a:solidFill>
                            <a:schemeClr val="dk1"/>
                          </a:solidFill>
                          <a:effectLst/>
                          <a:latin typeface="Times New Roman" panose="02020603050405020304" pitchFamily="18" charset="0"/>
                          <a:ea typeface="+mn-ea"/>
                          <a:cs typeface="Times New Roman" panose="02020603050405020304" pitchFamily="18" charset="0"/>
                        </a:rPr>
                        <a:t>For the institution</a:t>
                      </a:r>
                      <a:r>
                        <a:rPr b="0" dirty="0" sz="1800" i="0" kern="1200" lang="en-US" strike="noStrike" u="none">
                          <a:solidFill>
                            <a:schemeClr val="dk1"/>
                          </a:solidFill>
                          <a:effectLst/>
                          <a:latin typeface="Times New Roman" panose="02020603050405020304" pitchFamily="18" charset="0"/>
                          <a:ea typeface="+mn-ea"/>
                          <a:cs typeface="Times New Roman" panose="02020603050405020304" pitchFamily="18" charset="0"/>
                        </a:rPr>
                        <a:t>, it is recommended that DLL strengthen its student support system by implementing programs such as counseling services, stress management seminars, and mental health awareness activities specifically designed for working students. </a:t>
                      </a:r>
                    </a:p>
                    <a:p>
                      <a:pPr fontAlgn="base" rtl="0"/>
                      <a:r>
                        <a:rPr b="1" dirty="0" sz="1800" i="0" kern="1200" lang="en-US" strike="noStrike" u="none">
                          <a:solidFill>
                            <a:schemeClr val="dk1"/>
                          </a:solidFill>
                          <a:effectLst/>
                          <a:latin typeface="Times New Roman" panose="02020603050405020304" pitchFamily="18" charset="0"/>
                          <a:ea typeface="+mn-ea"/>
                          <a:cs typeface="Times New Roman" panose="02020603050405020304" pitchFamily="18" charset="0"/>
                        </a:rPr>
                        <a:t>For the academe,</a:t>
                      </a:r>
                      <a:r>
                        <a:rPr b="0" dirty="0" sz="1800" i="0" kern="1200" lang="en-US" strike="noStrike" u="none">
                          <a:solidFill>
                            <a:schemeClr val="dk1"/>
                          </a:solidFill>
                          <a:effectLst/>
                          <a:latin typeface="Times New Roman" panose="02020603050405020304" pitchFamily="18" charset="0"/>
                          <a:ea typeface="+mn-ea"/>
                          <a:cs typeface="Times New Roman" panose="02020603050405020304" pitchFamily="18" charset="0"/>
                        </a:rPr>
                        <a:t> especially in Social Work-related programs, the findings of this study may be integrated into classroom discussions to enhance students’ understanding of the realities faced by working students.</a:t>
                      </a:r>
                      <a:endParaRPr dirty="0" sz="1800" lang="en-PH">
                        <a:solidFill>
                          <a:schemeClr val="tx1"/>
                        </a:solidFill>
                        <a:latin typeface="Times New Roman" panose="02020603050405020304" pitchFamily="18" charset="0"/>
                        <a:cs typeface="Times New Roman" panose="02020603050405020304" pitchFamily="18" charset="0"/>
                      </a:endParaRPr>
                    </a:p>
                  </a:txBody>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graphicFrame>
        <p:nvGraphicFramePr>
          <p:cNvPr id="4194309" name="Table 4"/>
          <p:cNvGraphicFramePr>
            <a:graphicFrameLocks noGrp="1"/>
          </p:cNvGraphicFramePr>
          <p:nvPr/>
        </p:nvGraphicFramePr>
        <p:xfrm>
          <a:off x="705677" y="391973"/>
          <a:ext cx="11075506" cy="6075088"/>
        </p:xfrm>
        <a:graphic>
          <a:graphicData uri="http://schemas.openxmlformats.org/drawingml/2006/table">
            <a:tbl>
              <a:tblPr firstRow="1" bandRow="1">
                <a:tableStyleId>{0505E3EF-67EA-436B-97B2-0124C06EBD24}</a:tableStyleId>
              </a:tblPr>
              <a:tblGrid>
                <a:gridCol w="2122748"/>
                <a:gridCol w="2908440"/>
                <a:gridCol w="2891529"/>
                <a:gridCol w="3152789"/>
              </a:tblGrid>
              <a:tr h="656141">
                <a:tc>
                  <a:txBody>
                    <a:bodyPr/>
                    <a:p>
                      <a:pPr algn="ctr"/>
                      <a:r>
                        <a:rPr dirty="0" lang="en-US">
                          <a:solidFill>
                            <a:schemeClr val="tx1"/>
                          </a:solidFill>
                          <a:latin typeface="Times New Roman" panose="02020603050405020304" pitchFamily="18" charset="0"/>
                          <a:cs typeface="Times New Roman" panose="02020603050405020304" pitchFamily="18" charset="0"/>
                        </a:rPr>
                        <a:t>OBJECTIVES</a:t>
                      </a:r>
                      <a:endParaRPr dirty="0" lang="en-PH">
                        <a:solidFill>
                          <a:schemeClr val="tx1"/>
                        </a:solidFill>
                        <a:latin typeface="Times New Roman" panose="02020603050405020304" pitchFamily="18" charset="0"/>
                        <a:cs typeface="Times New Roman" panose="02020603050405020304" pitchFamily="18" charset="0"/>
                      </a:endParaRPr>
                    </a:p>
                  </a:txBody>
                </a:tc>
                <a:tc>
                  <a:txBody>
                    <a:bodyPr/>
                    <a:p>
                      <a:pPr algn="ctr"/>
                      <a:r>
                        <a:rPr dirty="0" lang="en-US">
                          <a:solidFill>
                            <a:schemeClr val="tx1"/>
                          </a:solidFill>
                          <a:latin typeface="Times New Roman" panose="02020603050405020304" pitchFamily="18" charset="0"/>
                          <a:cs typeface="Times New Roman" panose="02020603050405020304" pitchFamily="18" charset="0"/>
                        </a:rPr>
                        <a:t>FINDINGS</a:t>
                      </a:r>
                      <a:endParaRPr dirty="0" lang="en-PH">
                        <a:solidFill>
                          <a:schemeClr val="tx1"/>
                        </a:solidFill>
                        <a:latin typeface="Times New Roman" panose="02020603050405020304" pitchFamily="18" charset="0"/>
                        <a:cs typeface="Times New Roman" panose="02020603050405020304" pitchFamily="18" charset="0"/>
                      </a:endParaRPr>
                    </a:p>
                  </a:txBody>
                </a:tc>
                <a:tc>
                  <a:txBody>
                    <a:bodyPr/>
                    <a:p>
                      <a:pPr algn="ctr"/>
                      <a:r>
                        <a:rPr dirty="0" lang="en-US">
                          <a:solidFill>
                            <a:schemeClr val="tx1"/>
                          </a:solidFill>
                          <a:latin typeface="Times New Roman" panose="02020603050405020304" pitchFamily="18" charset="0"/>
                          <a:cs typeface="Times New Roman" panose="02020603050405020304" pitchFamily="18" charset="0"/>
                        </a:rPr>
                        <a:t>CONCLUSION</a:t>
                      </a:r>
                      <a:endParaRPr dirty="0" lang="en-PH">
                        <a:solidFill>
                          <a:schemeClr val="tx1"/>
                        </a:solidFill>
                        <a:latin typeface="Times New Roman" panose="02020603050405020304" pitchFamily="18" charset="0"/>
                        <a:cs typeface="Times New Roman" panose="02020603050405020304" pitchFamily="18" charset="0"/>
                      </a:endParaRPr>
                    </a:p>
                  </a:txBody>
                </a:tc>
                <a:tc>
                  <a:txBody>
                    <a:bodyPr/>
                    <a:p>
                      <a:pPr algn="ctr"/>
                      <a:r>
                        <a:rPr dirty="0" lang="en-US">
                          <a:solidFill>
                            <a:schemeClr val="tx1"/>
                          </a:solidFill>
                          <a:latin typeface="Times New Roman" panose="02020603050405020304" pitchFamily="18" charset="0"/>
                          <a:cs typeface="Times New Roman" panose="02020603050405020304" pitchFamily="18" charset="0"/>
                        </a:rPr>
                        <a:t>RECOMMENDATIONS </a:t>
                      </a:r>
                      <a:endParaRPr dirty="0" lang="en-PH">
                        <a:solidFill>
                          <a:schemeClr val="tx1"/>
                        </a:solidFill>
                        <a:latin typeface="Times New Roman" panose="02020603050405020304" pitchFamily="18" charset="0"/>
                        <a:cs typeface="Times New Roman" panose="02020603050405020304" pitchFamily="18" charset="0"/>
                      </a:endParaRPr>
                    </a:p>
                  </a:txBody>
                </a:tc>
              </a:tr>
              <a:tr h="5418947">
                <a:tc>
                  <a:txBody>
                    <a:bodyPr/>
                    <a:p>
                      <a:pPr fontAlgn="base" rtl="0"/>
                      <a:r>
                        <a:rPr b="0" dirty="0" sz="1800" i="0" kern="1200" lang="en-US" strike="noStrike" u="none">
                          <a:solidFill>
                            <a:schemeClr val="dk1"/>
                          </a:solidFill>
                          <a:effectLst/>
                          <a:latin typeface="Times New Roman" panose="02020603050405020304" pitchFamily="18" charset="0"/>
                          <a:ea typeface="+mn-ea"/>
                          <a:cs typeface="Times New Roman" panose="02020603050405020304" pitchFamily="18" charset="0"/>
                        </a:rPr>
                        <a:t>4.    </a:t>
                      </a:r>
                      <a:r>
                        <a:rPr b="0" dirty="0" sz="1800" i="0" kern="1200" lang="en-US" strike="noStrike" u="none">
                          <a:solidFill>
                            <a:schemeClr val="dk1"/>
                          </a:solidFill>
                          <a:effectLst/>
                          <a:latin typeface="+mn-lt"/>
                          <a:ea typeface="+mn-ea"/>
                          <a:cs typeface="+mn-cs"/>
                        </a:rPr>
                        <a:t>Examine the coping strategies and mechanisms employed by working students in terms of:</a:t>
                      </a:r>
                    </a:p>
                    <a:p>
                      <a:pPr rtl="0"/>
                      <a:r>
                        <a:rPr b="0" dirty="0" sz="1800" i="0" kern="1200" lang="en-US" strike="noStrike" u="none">
                          <a:solidFill>
                            <a:schemeClr val="dk1"/>
                          </a:solidFill>
                          <a:effectLst/>
                          <a:latin typeface="+mn-lt"/>
                          <a:ea typeface="+mn-ea"/>
                          <a:cs typeface="+mn-cs"/>
                        </a:rPr>
                        <a:t>         4.1 Time Management</a:t>
                      </a:r>
                      <a:endParaRPr b="0" dirty="0" lang="en-US">
                        <a:effectLst/>
                      </a:endParaRPr>
                    </a:p>
                    <a:p>
                      <a:pPr rtl="0"/>
                      <a:r>
                        <a:rPr b="0" dirty="0" sz="1800" i="0" kern="1200" lang="en-US" strike="noStrike" u="none">
                          <a:solidFill>
                            <a:schemeClr val="dk1"/>
                          </a:solidFill>
                          <a:effectLst/>
                          <a:latin typeface="+mn-lt"/>
                          <a:ea typeface="+mn-ea"/>
                          <a:cs typeface="+mn-cs"/>
                        </a:rPr>
                        <a:t>         4.2 Self-Care</a:t>
                      </a:r>
                      <a:endParaRPr b="0" dirty="0" lang="en-US">
                        <a:effectLst/>
                      </a:endParaRPr>
                    </a:p>
                    <a:p>
                      <a:pPr rtl="0"/>
                      <a:r>
                        <a:rPr b="0" dirty="0" sz="1800" i="0" kern="1200" lang="en-US" strike="noStrike" u="none">
                          <a:solidFill>
                            <a:schemeClr val="dk1"/>
                          </a:solidFill>
                          <a:effectLst/>
                          <a:latin typeface="+mn-lt"/>
                          <a:ea typeface="+mn-ea"/>
                          <a:cs typeface="+mn-cs"/>
                        </a:rPr>
                        <a:t>         4.3 Relaxation Techniques </a:t>
                      </a:r>
                      <a:endParaRPr b="0" dirty="0" lang="en-US">
                        <a:effectLst/>
                      </a:endParaRPr>
                    </a:p>
                  </a:txBody>
                </a:tc>
                <a:tc>
                  <a:txBody>
                    <a:bodyPr/>
                    <a:p>
                      <a:pPr algn="l" defTabSz="914400" eaLnBrk="1" fontAlgn="base" hangingPunct="1" indent="0" latinLnBrk="0" lvl="0" marL="0" marR="0" rtl="0">
                        <a:lnSpc>
                          <a:spcPct val="100000"/>
                        </a:lnSpc>
                        <a:spcBef>
                          <a:spcPts val="0"/>
                        </a:spcBef>
                        <a:spcAft>
                          <a:spcPts val="0"/>
                        </a:spcAft>
                        <a:buClrTx/>
                        <a:buSzTx/>
                        <a:buFontTx/>
                        <a:buNone/>
                      </a:pPr>
                      <a:r>
                        <a:rPr b="0" dirty="0" sz="1800" i="0" kern="1200" lang="en-US" strike="noStrike" u="none">
                          <a:solidFill>
                            <a:schemeClr val="dk1"/>
                          </a:solidFill>
                          <a:effectLst/>
                          <a:latin typeface="Times New Roman" panose="02020603050405020304" pitchFamily="18" charset="0"/>
                          <a:ea typeface="+mn-ea"/>
                          <a:cs typeface="Times New Roman" panose="02020603050405020304" pitchFamily="18" charset="0"/>
                        </a:rPr>
                        <a:t>The findings showed that time management was one of the most common coping strategies used by the participants. The self-care and relaxation activities were also used to reduce stress and maintain well-being as working students. </a:t>
                      </a:r>
                    </a:p>
                    <a:p>
                      <a:pPr algn="l" defTabSz="914400" eaLnBrk="1" fontAlgn="auto" hangingPunct="1" indent="0" latinLnBrk="0" lvl="0" marL="0" marR="0" rtl="0">
                        <a:lnSpc>
                          <a:spcPct val="100000"/>
                        </a:lnSpc>
                        <a:spcBef>
                          <a:spcPts val="0"/>
                        </a:spcBef>
                        <a:spcAft>
                          <a:spcPts val="0"/>
                        </a:spcAft>
                        <a:buClrTx/>
                        <a:buSzTx/>
                        <a:buFontTx/>
                        <a:buNone/>
                      </a:pPr>
                      <a:endParaRPr b="0" dirty="0" sz="1800" kern="1200" lang="en-US" strike="noStrike" u="none">
                        <a:solidFill>
                          <a:schemeClr val="dk1"/>
                        </a:solidFill>
                        <a:effectLst/>
                        <a:latin typeface="Times New Roman" panose="02020603050405020304" pitchFamily="18" charset="0"/>
                        <a:cs typeface="Times New Roman" panose="02020603050405020304" pitchFamily="18" charset="0"/>
                      </a:endParaRPr>
                    </a:p>
                    <a:p>
                      <a:pPr algn="l" defTabSz="914400" eaLnBrk="1" fontAlgn="auto" hangingPunct="1" indent="0" latinLnBrk="0" lvl="0" marL="0" marR="0" rtl="0">
                        <a:lnSpc>
                          <a:spcPct val="100000"/>
                        </a:lnSpc>
                        <a:spcBef>
                          <a:spcPts val="0"/>
                        </a:spcBef>
                        <a:spcAft>
                          <a:spcPts val="0"/>
                        </a:spcAft>
                        <a:buClrTx/>
                        <a:buSzTx/>
                        <a:buFontTx/>
                        <a:buNone/>
                      </a:pPr>
                      <a:endParaRPr dirty="0" lang="en-PH">
                        <a:solidFill>
                          <a:schemeClr val="tx1"/>
                        </a:solidFill>
                        <a:latin typeface="Times New Roman" panose="02020603050405020304" pitchFamily="18" charset="0"/>
                        <a:cs typeface="Times New Roman" panose="02020603050405020304" pitchFamily="18" charset="0"/>
                      </a:endParaRPr>
                    </a:p>
                  </a:txBody>
                </a:tc>
                <a:tc>
                  <a:txBody>
                    <a:bodyPr/>
                    <a:p>
                      <a:pPr fontAlgn="base" rtl="0"/>
                      <a:r>
                        <a:rPr b="0" dirty="0" sz="1800" i="0" kern="1200" lang="en-US" strike="noStrike" u="none">
                          <a:solidFill>
                            <a:schemeClr val="dk1"/>
                          </a:solidFill>
                          <a:effectLst/>
                          <a:latin typeface="Times New Roman" panose="02020603050405020304" pitchFamily="18" charset="0"/>
                          <a:ea typeface="+mn-ea"/>
                          <a:cs typeface="Times New Roman" panose="02020603050405020304" pitchFamily="18" charset="0"/>
                        </a:rPr>
                        <a:t>Working students under the BSSW Department at DLL employ healthy coping strategies such as effective time management, self-care practices, and relaxation techniques. These strategies help reduce stress and enable them to manage the demands associated with their dual responsibilities. </a:t>
                      </a:r>
                      <a:endParaRPr dirty="0" lang="en-PH">
                        <a:solidFill>
                          <a:schemeClr val="tx1"/>
                        </a:solidFill>
                        <a:latin typeface="Times New Roman" panose="02020603050405020304" pitchFamily="18" charset="0"/>
                        <a:cs typeface="Times New Roman" panose="02020603050405020304" pitchFamily="18" charset="0"/>
                      </a:endParaRPr>
                    </a:p>
                  </a:txBody>
                </a:tc>
                <a:tc>
                  <a:txBody>
                    <a:bodyPr/>
                    <a:p>
                      <a:pPr fontAlgn="base" rtl="0"/>
                      <a:r>
                        <a:rPr b="1" dirty="0" sz="1800" i="0" kern="1200" lang="en-US" strike="noStrike" u="none">
                          <a:solidFill>
                            <a:schemeClr val="dk1"/>
                          </a:solidFill>
                          <a:effectLst/>
                          <a:latin typeface="Times New Roman" panose="02020603050405020304" pitchFamily="18" charset="0"/>
                          <a:ea typeface="+mn-ea"/>
                          <a:cs typeface="Times New Roman" panose="02020603050405020304" pitchFamily="18" charset="0"/>
                        </a:rPr>
                        <a:t>For future researchers</a:t>
                      </a:r>
                      <a:r>
                        <a:rPr b="0" dirty="0" sz="1800" i="0" kern="1200" lang="en-US" strike="noStrike" u="none">
                          <a:solidFill>
                            <a:schemeClr val="dk1"/>
                          </a:solidFill>
                          <a:effectLst/>
                          <a:latin typeface="Times New Roman" panose="02020603050405020304" pitchFamily="18" charset="0"/>
                          <a:ea typeface="+mn-ea"/>
                          <a:cs typeface="Times New Roman" panose="02020603050405020304" pitchFamily="18" charset="0"/>
                        </a:rPr>
                        <a:t>, this study may serve as a basis for further investigation on working students, particularly focusing on their lived experiences, challenges, coping strategies, and the effects of dual responsibilities on psychological well-being. Future studies may also explore larger populations or compare different academic programs to obtain more comprehensive findings.</a:t>
                      </a:r>
                      <a:endParaRPr dirty="0" sz="1800" lang="en-PH">
                        <a:solidFill>
                          <a:schemeClr val="tx1"/>
                        </a:solidFill>
                        <a:latin typeface="Times New Roman" panose="02020603050405020304" pitchFamily="18" charset="0"/>
                        <a:cs typeface="Times New Roman" panose="02020603050405020304" pitchFamily="18" charset="0"/>
                      </a:endParaRPr>
                    </a:p>
                  </a:txBody>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609" name="Title 1"/>
          <p:cNvSpPr>
            <a:spLocks noGrp="1"/>
          </p:cNvSpPr>
          <p:nvPr>
            <p:ph type="title"/>
          </p:nvPr>
        </p:nvSpPr>
        <p:spPr>
          <a:xfrm>
            <a:off x="652670" y="2763423"/>
            <a:ext cx="3071191" cy="1331153"/>
          </a:xfrm>
        </p:spPr>
        <p:txBody>
          <a:bodyPr/>
          <a:p>
            <a:pPr algn="ctr"/>
            <a:r>
              <a:rPr dirty="0" lang="en-US">
                <a:latin typeface="Times New Roman" panose="02020603050405020304" pitchFamily="18" charset="0"/>
                <a:cs typeface="Times New Roman" panose="02020603050405020304" pitchFamily="18" charset="0"/>
              </a:rPr>
              <a:t>Research Output</a:t>
            </a:r>
            <a:endParaRPr dirty="0" lang="en-PH"/>
          </a:p>
        </p:txBody>
      </p:sp>
      <p:pic>
        <p:nvPicPr>
          <p:cNvPr id="2097153" name="Picture 2"/>
          <p:cNvPicPr>
            <a:picLocks noChangeAspect="1" noGrp="1" noChangeArrowheads="1"/>
          </p:cNvPicPr>
          <p:nvPr>
            <p:ph idx="1"/>
          </p:nvPr>
        </p:nvPicPr>
        <p:blipFill>
          <a:blip xmlns:r="http://schemas.openxmlformats.org/officeDocument/2006/relationships" r:embed="rId1"/>
          <a:srcRect/>
          <a:stretch>
            <a:fillRect/>
          </a:stretch>
        </p:blipFill>
        <p:spPr bwMode="auto">
          <a:xfrm>
            <a:off x="4456377" y="55137"/>
            <a:ext cx="5005675" cy="6747726"/>
          </a:xfrm>
          <a:prstGeom prst="rect"/>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610" name="Title 1"/>
          <p:cNvSpPr>
            <a:spLocks noGrp="1"/>
          </p:cNvSpPr>
          <p:nvPr>
            <p:ph type="title"/>
          </p:nvPr>
        </p:nvSpPr>
        <p:spPr>
          <a:xfrm>
            <a:off x="546652" y="460340"/>
            <a:ext cx="11274287" cy="5940460"/>
          </a:xfrm>
        </p:spPr>
        <p:txBody>
          <a:bodyPr>
            <a:normAutofit/>
          </a:bodyPr>
          <a:p>
            <a:pPr algn="ctr"/>
            <a:r>
              <a:rPr dirty="0" sz="16600" lang="en-US">
                <a:latin typeface="Times New Roman" panose="02020603050405020304" pitchFamily="18" charset="0"/>
                <a:cs typeface="Times New Roman" panose="02020603050405020304" pitchFamily="18" charset="0"/>
              </a:rPr>
              <a:t>THANK YOU</a:t>
            </a:r>
            <a:endParaRPr dirty="0" sz="16600" lang="en-PH">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616" name=""/>
          <p:cNvSpPr>
            <a:spLocks noGrp="1"/>
          </p:cNvSpPr>
          <p:nvPr>
            <p:ph type="ctrTitle"/>
          </p:nvPr>
        </p:nvSpPr>
        <p:spPr>
          <a:xfrm>
            <a:off x="1524000" y="1122363"/>
            <a:ext cx="9859898" cy="4531165"/>
          </a:xfrm>
        </p:spPr>
        <p:txBody>
          <a:bodyPr>
            <a:noAutofit/>
          </a:bodyPr>
          <a:p>
            <a:r>
              <a:rPr b="1" sz="13800" lang="en-US"/>
              <a:t>T</a:t>
            </a:r>
            <a:r>
              <a:rPr b="1" sz="13800" lang="en-US"/>
              <a:t>H</a:t>
            </a:r>
            <a:r>
              <a:rPr b="1" sz="13800" lang="en-US"/>
              <a:t>E</a:t>
            </a:r>
            <a:r>
              <a:rPr b="1" sz="13800" lang="en-US"/>
              <a:t>S</a:t>
            </a:r>
            <a:r>
              <a:rPr b="1" sz="13800" lang="en-US"/>
              <a:t>IS </a:t>
            </a:r>
            <a:r>
              <a:rPr b="1" sz="13800" lang="en-US"/>
              <a:t>D</a:t>
            </a:r>
            <a:r>
              <a:rPr b="1" sz="13800" lang="en-US"/>
              <a:t>E</a:t>
            </a:r>
            <a:r>
              <a:rPr b="1" sz="13800" lang="en-US"/>
              <a:t>F</a:t>
            </a:r>
            <a:r>
              <a:rPr b="1" sz="13800" lang="en-US"/>
              <a:t>E</a:t>
            </a:r>
            <a:r>
              <a:rPr b="1" sz="13800" lang="en-US"/>
              <a:t>N</a:t>
            </a:r>
            <a:r>
              <a:rPr b="1" sz="13800" lang="en-US"/>
              <a:t>DED</a:t>
            </a:r>
            <a:r>
              <a:rPr b="1" sz="8800" lang="en-US"/>
              <a:t> </a:t>
            </a:r>
            <a:endParaRPr b="1" sz="8800" lang="en-US"/>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Template Final Thesis presentation</dc:title>
  <dc:creator>DLL-PC12</dc:creator>
  <cp:lastModifiedBy>elizabethrmundin18@gmail.com</cp:lastModifiedBy>
  <dcterms:created xsi:type="dcterms:W3CDTF">2023-08-07T15:56:56Z</dcterms:created>
  <dcterms:modified xsi:type="dcterms:W3CDTF">2026-06-05T12:11:20Z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a344a6fb8c854a57a3cf6d765eb793d4_23</vt:lpwstr>
  </property>
</Properties>
</file>